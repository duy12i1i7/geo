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862"/>
    <p:restoredTop sz="94659"/>
  </p:normalViewPr>
  <p:slideViewPr>
    <p:cSldViewPr snapToGrid="0">
      <p:cViewPr varScale="1">
        <p:scale>
          <a:sx n="146" d="100"/>
          <a:sy n="146" d="100"/>
        </p:scale>
        <p:origin x="12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0A6DB902-AE56-48DC-A4B8-80E62DD55AD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7F1E8"/>
              </a:gs>
              <a:gs pos="100000">
                <a:srgbClr val="FFFDFC"/>
              </a:gs>
            </a:gsLst>
            <a:lin ang="10800000"/>
          </a:gradFill>
          <a:ln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1DF2C9-64AF-4618-8A1C-31E6A127736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A61E22"/>
          </a:solidFill>
          <a:ln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38433" y="457200"/>
            <a:ext cx="523384" cy="781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900A499-7C07-4577-90F0-73EE787B1849}"/>
              </a:ext>
            </a:extLst>
          </p:cNvPr>
          <p:cNvSpPr>
            <a:spLocks noGrp="1"/>
          </p:cNvSpPr>
          <p:nvPr/>
        </p:nvSpPr>
        <p:spPr>
          <a:xfrm>
            <a:off x="1524000" y="533400"/>
            <a:ext cx="304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62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625B"/>
                </a:solidFill>
                <a:latin typeface="Aptos"/>
                <a:ea typeface="Aptos"/>
                <a:cs typeface="Aptos"/>
              </a:rPr>
              <a:t>ĐẠI HỌC BÁCH KHOA HÀ NỘI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7C085D-0F38-4AE9-B3E9-A7939329D375}"/>
              </a:ext>
            </a:extLst>
          </p:cNvPr>
          <p:cNvSpPr>
            <a:spLocks noGrp="1"/>
          </p:cNvSpPr>
          <p:nvPr/>
        </p:nvSpPr>
        <p:spPr>
          <a:xfrm>
            <a:off x="1524000" y="742950"/>
            <a:ext cx="304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62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625B"/>
                </a:solidFill>
                <a:latin typeface="Aptos"/>
                <a:ea typeface="Aptos"/>
                <a:cs typeface="Aptos"/>
              </a:rPr>
              <a:t>Bài tập lớn môn học Thực tại ảo và Thực tại tăng cường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A89081-6079-4885-BC35-50AA1691C3A2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A61E2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61E22"/>
                </a:solidFill>
                <a:latin typeface="Aptos"/>
                <a:ea typeface="Aptos"/>
                <a:cs typeface="Aptos"/>
              </a:rPr>
              <a:t>GEO PROJECT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9E9180-B739-4156-907B-EF05B96F5435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57150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1411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Risk-guided selective refinement cho tái tạo 3D UAV từ ảnh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9B66CE-3109-416B-8DEA-02D02F203B46}"/>
              </a:ext>
            </a:extLst>
          </p:cNvPr>
          <p:cNvSpPr>
            <a:spLocks noGrp="1"/>
          </p:cNvSpPr>
          <p:nvPr/>
        </p:nvSpPr>
        <p:spPr>
          <a:xfrm>
            <a:off x="609600" y="2686050"/>
            <a:ext cx="51435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1411"/>
                </a:solidFill>
                <a:latin typeface="Aptos"/>
                <a:ea typeface="Aptos"/>
                <a:cs typeface="Aptos"/>
              </a:rPr>
              <a:t>Kết hợp DUSt3R và MASt3R để giảm ngân sách refine nhưng vẫn giữ chất lượng hình học ở mức cạnh tranh.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C74BCE-E487-46E2-A77F-E8C0E9C3923E}"/>
              </a:ext>
            </a:extLst>
          </p:cNvPr>
          <p:cNvSpPr>
            <a:spLocks noGrp="1"/>
          </p:cNvSpPr>
          <p:nvPr/>
        </p:nvSpPr>
        <p:spPr>
          <a:xfrm>
            <a:off x="609600" y="3543300"/>
            <a:ext cx="1600200" cy="266700"/>
          </a:xfrm>
          <a:prstGeom prst="rect">
            <a:avLst/>
          </a:prstGeom>
          <a:solidFill>
            <a:srgbClr val="EFD9D6"/>
          </a:solidFill>
          <a:ln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AC62E5-915F-43F8-B300-1FC08AE6A6FA}"/>
              </a:ext>
            </a:extLst>
          </p:cNvPr>
          <p:cNvSpPr>
            <a:spLocks noGrp="1"/>
          </p:cNvSpPr>
          <p:nvPr/>
        </p:nvSpPr>
        <p:spPr>
          <a:xfrm>
            <a:off x="609600" y="3590925"/>
            <a:ext cx="1600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A61E2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1E22"/>
                </a:solidFill>
                <a:latin typeface="Aptos"/>
                <a:ea typeface="Aptos"/>
                <a:cs typeface="Aptos"/>
              </a:rPr>
              <a:t>Dronescapes + ODMData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6B4380-97A0-4D08-AD2F-0EB1C4012C2D}"/>
              </a:ext>
            </a:extLst>
          </p:cNvPr>
          <p:cNvSpPr>
            <a:spLocks noGrp="1"/>
          </p:cNvSpPr>
          <p:nvPr/>
        </p:nvSpPr>
        <p:spPr>
          <a:xfrm>
            <a:off x="2343150" y="3543300"/>
            <a:ext cx="1771650" cy="266700"/>
          </a:xfrm>
          <a:prstGeom prst="rect">
            <a:avLst/>
          </a:prstGeom>
          <a:solidFill>
            <a:srgbClr val="EFD9D6"/>
          </a:solidFill>
          <a:ln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399A56-08EC-403A-8894-2B4D00BA364C}"/>
              </a:ext>
            </a:extLst>
          </p:cNvPr>
          <p:cNvSpPr>
            <a:spLocks noGrp="1"/>
          </p:cNvSpPr>
          <p:nvPr/>
        </p:nvSpPr>
        <p:spPr>
          <a:xfrm>
            <a:off x="2343150" y="3590925"/>
            <a:ext cx="1771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A61E2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1E22"/>
                </a:solidFill>
                <a:latin typeface="Aptos"/>
                <a:ea typeface="Aptos"/>
                <a:cs typeface="Aptos"/>
              </a:rPr>
              <a:t>Risk-hybrid benchmark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4FE4949-B054-4E35-9326-8DE2C07F1E8C}"/>
              </a:ext>
            </a:extLst>
          </p:cNvPr>
          <p:cNvSpPr>
            <a:spLocks noGrp="1"/>
          </p:cNvSpPr>
          <p:nvPr/>
        </p:nvSpPr>
        <p:spPr>
          <a:xfrm>
            <a:off x="609600" y="4114800"/>
            <a:ext cx="5067300" cy="1562100"/>
          </a:xfrm>
          <a:prstGeom prst="rect">
            <a:avLst/>
          </a:prstGeom>
          <a:solidFill>
            <a:srgbClr val="FFFDFC"/>
          </a:solidFill>
          <a:ln w="9525">
            <a:solidFill>
              <a:srgbClr val="DCCFC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BF45C0-454C-4BB2-A1AE-4B292EE01188}"/>
              </a:ext>
            </a:extLst>
          </p:cNvPr>
          <p:cNvSpPr>
            <a:spLocks noGrp="1"/>
          </p:cNvSpPr>
          <p:nvPr/>
        </p:nvSpPr>
        <p:spPr>
          <a:xfrm>
            <a:off x="838200" y="4343400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B625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625B"/>
                </a:solidFill>
                <a:latin typeface="Aptos"/>
                <a:ea typeface="Aptos"/>
                <a:cs typeface="Aptos"/>
              </a:rPr>
              <a:t>Sinh viên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CE0264-C68C-4700-8A27-F114A38BCEB2}"/>
              </a:ext>
            </a:extLst>
          </p:cNvPr>
          <p:cNvSpPr>
            <a:spLocks noGrp="1"/>
          </p:cNvSpPr>
          <p:nvPr/>
        </p:nvSpPr>
        <p:spPr>
          <a:xfrm>
            <a:off x="838200" y="4533900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1411"/>
                </a:solidFill>
                <a:latin typeface="Aptos"/>
                <a:ea typeface="Aptos"/>
                <a:cs typeface="Aptos"/>
              </a:rPr>
              <a:t>Nguyễn Đình Duy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E99909-B416-4FDA-93F4-B2AD5A3DBAFB}"/>
              </a:ext>
            </a:extLst>
          </p:cNvPr>
          <p:cNvSpPr>
            <a:spLocks noGrp="1"/>
          </p:cNvSpPr>
          <p:nvPr/>
        </p:nvSpPr>
        <p:spPr>
          <a:xfrm>
            <a:off x="838200" y="4953000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B625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625B"/>
                </a:solidFill>
                <a:latin typeface="Aptos"/>
                <a:ea typeface="Aptos"/>
                <a:cs typeface="Aptos"/>
              </a:rPr>
              <a:t>Chương trình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728F123-9B23-46F0-85BC-A3DD6F98AB02}"/>
              </a:ext>
            </a:extLst>
          </p:cNvPr>
          <p:cNvSpPr>
            <a:spLocks noGrp="1"/>
          </p:cNvSpPr>
          <p:nvPr/>
        </p:nvSpPr>
        <p:spPr>
          <a:xfrm>
            <a:off x="838200" y="5143500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1411"/>
                </a:solidFill>
                <a:latin typeface="Aptos"/>
                <a:ea typeface="Aptos"/>
                <a:cs typeface="Aptos"/>
              </a:rPr>
              <a:t>Kỹ thuật Viễn thông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FB0EBDF-57FE-4A27-A684-FE6A996D2F0F}"/>
              </a:ext>
            </a:extLst>
          </p:cNvPr>
          <p:cNvSpPr>
            <a:spLocks noGrp="1"/>
          </p:cNvSpPr>
          <p:nvPr/>
        </p:nvSpPr>
        <p:spPr>
          <a:xfrm>
            <a:off x="3276600" y="4343400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B625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625B"/>
                </a:solidFill>
                <a:latin typeface="Aptos"/>
                <a:ea typeface="Aptos"/>
                <a:cs typeface="Aptos"/>
              </a:rPr>
              <a:t>Giảng viên hướng dẫn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A7F4290-7492-426D-BAEC-6007AF452667}"/>
              </a:ext>
            </a:extLst>
          </p:cNvPr>
          <p:cNvSpPr>
            <a:spLocks noGrp="1"/>
          </p:cNvSpPr>
          <p:nvPr/>
        </p:nvSpPr>
        <p:spPr>
          <a:xfrm>
            <a:off x="3276600" y="4533900"/>
            <a:ext cx="2095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1411"/>
                </a:solidFill>
                <a:latin typeface="Aptos"/>
                <a:ea typeface="Aptos"/>
                <a:cs typeface="Aptos"/>
              </a:rPr>
              <a:t>PGS. TS. Trần Thị Thanh Hải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B541AD6-043E-4639-B6D0-0F04C70FD04F}"/>
              </a:ext>
            </a:extLst>
          </p:cNvPr>
          <p:cNvSpPr>
            <a:spLocks noGrp="1"/>
          </p:cNvSpPr>
          <p:nvPr/>
        </p:nvSpPr>
        <p:spPr>
          <a:xfrm>
            <a:off x="3276600" y="5143500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B625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625B"/>
                </a:solidFill>
                <a:latin typeface="Aptos"/>
                <a:ea typeface="Aptos"/>
                <a:cs typeface="Aptos"/>
              </a:rPr>
              <a:t>GitHub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E68057A-CBA7-4483-B9EF-941EE17EAD21}"/>
              </a:ext>
            </a:extLst>
          </p:cNvPr>
          <p:cNvSpPr>
            <a:spLocks noGrp="1"/>
          </p:cNvSpPr>
          <p:nvPr/>
        </p:nvSpPr>
        <p:spPr>
          <a:xfrm>
            <a:off x="3276600" y="533400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E4F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4F73"/>
                </a:solidFill>
                <a:latin typeface="Aptos"/>
                <a:ea typeface="Aptos"/>
                <a:cs typeface="Aptos"/>
              </a:rPr>
              <a:t>github.com/duy12i1i7/GEO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4"/>
          <a:srcRect l="20158" r="20158"/>
          <a:stretch>
            <a:fillRect/>
          </a:stretch>
        </p:blipFill>
        <p:spPr>
          <a:xfrm>
            <a:off x="6762750" y="838200"/>
            <a:ext cx="4819650" cy="49911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1DE6CFDD-7099-49A4-82F6-66A43A01F87A}"/>
              </a:ext>
            </a:extLst>
          </p:cNvPr>
          <p:cNvSpPr>
            <a:spLocks noGrp="1"/>
          </p:cNvSpPr>
          <p:nvPr/>
        </p:nvSpPr>
        <p:spPr>
          <a:xfrm>
            <a:off x="6762750" y="5886450"/>
            <a:ext cx="4819650" cy="400050"/>
          </a:xfrm>
          <a:prstGeom prst="rect">
            <a:avLst/>
          </a:prstGeom>
          <a:solidFill>
            <a:srgbClr val="FFF9F2"/>
          </a:solidFill>
          <a:ln w="9525">
            <a:solidFill>
              <a:srgbClr val="DCCFC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71F6D84-7F61-482B-93ED-BE7A57A26C5D}"/>
              </a:ext>
            </a:extLst>
          </p:cNvPr>
          <p:cNvSpPr>
            <a:spLocks noGrp="1"/>
          </p:cNvSpPr>
          <p:nvPr/>
        </p:nvSpPr>
        <p:spPr>
          <a:xfrm>
            <a:off x="6934200" y="6000750"/>
            <a:ext cx="447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B625B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6B625B"/>
                </a:solidFill>
                <a:latin typeface="Aptos"/>
                <a:ea typeface="Aptos"/>
                <a:cs typeface="Aptos"/>
              </a:rPr>
              <a:t>Bối </a:t>
            </a:r>
            <a:r>
              <a:rPr sz="900" b="0" dirty="0" err="1">
                <a:solidFill>
                  <a:srgbClr val="6B625B"/>
                </a:solidFill>
                <a:latin typeface="Aptos"/>
                <a:ea typeface="Aptos"/>
                <a:cs typeface="Aptos"/>
              </a:rPr>
              <a:t>cảnh</a:t>
            </a:r>
            <a:r>
              <a:rPr sz="900" b="0" dirty="0">
                <a:solidFill>
                  <a:srgbClr val="6B625B"/>
                </a:solidFill>
                <a:latin typeface="Aptos"/>
                <a:ea typeface="Aptos"/>
                <a:cs typeface="Aptos"/>
              </a:rPr>
              <a:t> </a:t>
            </a:r>
            <a:r>
              <a:rPr sz="900" b="0" dirty="0" err="1">
                <a:solidFill>
                  <a:srgbClr val="6B625B"/>
                </a:solidFill>
                <a:latin typeface="Aptos"/>
                <a:ea typeface="Aptos"/>
                <a:cs typeface="Aptos"/>
              </a:rPr>
              <a:t>ứng</a:t>
            </a:r>
            <a:r>
              <a:rPr sz="900" b="0" dirty="0">
                <a:solidFill>
                  <a:srgbClr val="6B625B"/>
                </a:solidFill>
                <a:latin typeface="Aptos"/>
                <a:ea typeface="Aptos"/>
                <a:cs typeface="Aptos"/>
              </a:rPr>
              <a:t> </a:t>
            </a:r>
            <a:r>
              <a:rPr sz="900" b="0" dirty="0" err="1">
                <a:solidFill>
                  <a:srgbClr val="6B625B"/>
                </a:solidFill>
                <a:latin typeface="Aptos"/>
                <a:ea typeface="Aptos"/>
                <a:cs typeface="Aptos"/>
              </a:rPr>
              <a:t>dụng</a:t>
            </a:r>
            <a:r>
              <a:rPr sz="900" b="0" dirty="0">
                <a:solidFill>
                  <a:srgbClr val="6B625B"/>
                </a:solidFill>
                <a:latin typeface="Aptos"/>
                <a:ea typeface="Aptos"/>
                <a:cs typeface="Aptos"/>
              </a:rPr>
              <a:t>: UAV mapping </a:t>
            </a:r>
            <a:r>
              <a:rPr sz="900" b="0" dirty="0" err="1">
                <a:solidFill>
                  <a:srgbClr val="6B625B"/>
                </a:solidFill>
                <a:latin typeface="Aptos"/>
                <a:ea typeface="Aptos"/>
                <a:cs typeface="Aptos"/>
              </a:rPr>
              <a:t>cần</a:t>
            </a:r>
            <a:r>
              <a:rPr sz="900" b="0" dirty="0">
                <a:solidFill>
                  <a:srgbClr val="6B625B"/>
                </a:solidFill>
                <a:latin typeface="Aptos"/>
                <a:ea typeface="Aptos"/>
                <a:cs typeface="Aptos"/>
              </a:rPr>
              <a:t> </a:t>
            </a:r>
            <a:r>
              <a:rPr sz="900" b="0" dirty="0" err="1">
                <a:solidFill>
                  <a:srgbClr val="6B625B"/>
                </a:solidFill>
                <a:latin typeface="Aptos"/>
                <a:ea typeface="Aptos"/>
                <a:cs typeface="Aptos"/>
              </a:rPr>
              <a:t>cân</a:t>
            </a:r>
            <a:r>
              <a:rPr sz="900" b="0" dirty="0">
                <a:solidFill>
                  <a:srgbClr val="6B625B"/>
                </a:solidFill>
                <a:latin typeface="Aptos"/>
                <a:ea typeface="Aptos"/>
                <a:cs typeface="Aptos"/>
              </a:rPr>
              <a:t> </a:t>
            </a:r>
            <a:r>
              <a:rPr sz="900" b="0" dirty="0" err="1">
                <a:solidFill>
                  <a:srgbClr val="6B625B"/>
                </a:solidFill>
                <a:latin typeface="Aptos"/>
                <a:ea typeface="Aptos"/>
                <a:cs typeface="Aptos"/>
              </a:rPr>
              <a:t>bằng</a:t>
            </a:r>
            <a:r>
              <a:rPr sz="900" b="0" dirty="0">
                <a:solidFill>
                  <a:srgbClr val="6B625B"/>
                </a:solidFill>
                <a:latin typeface="Aptos"/>
                <a:ea typeface="Aptos"/>
                <a:cs typeface="Aptos"/>
              </a:rPr>
              <a:t> </a:t>
            </a:r>
            <a:r>
              <a:rPr sz="900" b="0" dirty="0" err="1">
                <a:solidFill>
                  <a:srgbClr val="6B625B"/>
                </a:solidFill>
                <a:latin typeface="Aptos"/>
                <a:ea typeface="Aptos"/>
                <a:cs typeface="Aptos"/>
              </a:rPr>
              <a:t>giữa</a:t>
            </a:r>
            <a:r>
              <a:rPr sz="900" b="0" dirty="0">
                <a:solidFill>
                  <a:srgbClr val="6B625B"/>
                </a:solidFill>
                <a:latin typeface="Aptos"/>
                <a:ea typeface="Aptos"/>
                <a:cs typeface="Aptos"/>
              </a:rPr>
              <a:t> </a:t>
            </a:r>
            <a:r>
              <a:rPr sz="900" b="0" dirty="0" err="1">
                <a:solidFill>
                  <a:srgbClr val="6B625B"/>
                </a:solidFill>
                <a:latin typeface="Aptos"/>
                <a:ea typeface="Aptos"/>
                <a:cs typeface="Aptos"/>
              </a:rPr>
              <a:t>chất</a:t>
            </a:r>
            <a:r>
              <a:rPr sz="900" b="0" dirty="0">
                <a:solidFill>
                  <a:srgbClr val="6B625B"/>
                </a:solidFill>
                <a:latin typeface="Aptos"/>
                <a:ea typeface="Aptos"/>
                <a:cs typeface="Aptos"/>
              </a:rPr>
              <a:t> </a:t>
            </a:r>
            <a:r>
              <a:rPr sz="900" b="0" dirty="0" err="1">
                <a:solidFill>
                  <a:srgbClr val="6B625B"/>
                </a:solidFill>
                <a:latin typeface="Aptos"/>
                <a:ea typeface="Aptos"/>
                <a:cs typeface="Aptos"/>
              </a:rPr>
              <a:t>lượng</a:t>
            </a:r>
            <a:r>
              <a:rPr sz="900" b="0" dirty="0">
                <a:solidFill>
                  <a:srgbClr val="6B625B"/>
                </a:solidFill>
                <a:latin typeface="Aptos"/>
                <a:ea typeface="Aptos"/>
                <a:cs typeface="Aptos"/>
              </a:rPr>
              <a:t> </a:t>
            </a:r>
            <a:r>
              <a:rPr sz="900" b="0" dirty="0" err="1">
                <a:solidFill>
                  <a:srgbClr val="6B625B"/>
                </a:solidFill>
                <a:latin typeface="Aptos"/>
                <a:ea typeface="Aptos"/>
                <a:cs typeface="Aptos"/>
              </a:rPr>
              <a:t>tái</a:t>
            </a:r>
            <a:r>
              <a:rPr sz="900" b="0" dirty="0">
                <a:solidFill>
                  <a:srgbClr val="6B625B"/>
                </a:solidFill>
                <a:latin typeface="Aptos"/>
                <a:ea typeface="Aptos"/>
                <a:cs typeface="Aptos"/>
              </a:rPr>
              <a:t> </a:t>
            </a:r>
            <a:r>
              <a:rPr sz="900" b="0" dirty="0" err="1">
                <a:solidFill>
                  <a:srgbClr val="6B625B"/>
                </a:solidFill>
                <a:latin typeface="Aptos"/>
                <a:ea typeface="Aptos"/>
                <a:cs typeface="Aptos"/>
              </a:rPr>
              <a:t>tạo</a:t>
            </a:r>
            <a:r>
              <a:rPr sz="900" b="0" dirty="0">
                <a:solidFill>
                  <a:srgbClr val="6B625B"/>
                </a:solidFill>
                <a:latin typeface="Aptos"/>
                <a:ea typeface="Aptos"/>
                <a:cs typeface="Aptos"/>
              </a:rPr>
              <a:t> </a:t>
            </a:r>
            <a:r>
              <a:rPr sz="900" b="0" dirty="0" err="1">
                <a:solidFill>
                  <a:srgbClr val="6B625B"/>
                </a:solidFill>
                <a:latin typeface="Aptos"/>
                <a:ea typeface="Aptos"/>
                <a:cs typeface="Aptos"/>
              </a:rPr>
              <a:t>và</a:t>
            </a:r>
            <a:r>
              <a:rPr sz="900" b="0" dirty="0">
                <a:solidFill>
                  <a:srgbClr val="6B625B"/>
                </a:solidFill>
                <a:latin typeface="Aptos"/>
                <a:ea typeface="Aptos"/>
                <a:cs typeface="Aptos"/>
              </a:rPr>
              <a:t> chi </a:t>
            </a:r>
            <a:r>
              <a:rPr sz="900" b="0" dirty="0" err="1">
                <a:solidFill>
                  <a:srgbClr val="6B625B"/>
                </a:solidFill>
                <a:latin typeface="Aptos"/>
                <a:ea typeface="Aptos"/>
                <a:cs typeface="Aptos"/>
              </a:rPr>
              <a:t>phí</a:t>
            </a:r>
            <a:r>
              <a:rPr sz="900" b="0" dirty="0">
                <a:solidFill>
                  <a:srgbClr val="6B625B"/>
                </a:solidFill>
                <a:latin typeface="Aptos"/>
                <a:ea typeface="Aptos"/>
                <a:cs typeface="Aptos"/>
              </a:rPr>
              <a:t> </a:t>
            </a:r>
            <a:r>
              <a:rPr sz="900" b="0" dirty="0" err="1">
                <a:solidFill>
                  <a:srgbClr val="6B625B"/>
                </a:solidFill>
                <a:latin typeface="Aptos"/>
                <a:ea typeface="Aptos"/>
                <a:cs typeface="Aptos"/>
              </a:rPr>
              <a:t>xử</a:t>
            </a:r>
            <a:r>
              <a:rPr sz="900" b="0" dirty="0">
                <a:solidFill>
                  <a:srgbClr val="6B625B"/>
                </a:solidFill>
                <a:latin typeface="Aptos"/>
                <a:ea typeface="Aptos"/>
                <a:cs typeface="Aptos"/>
              </a:rPr>
              <a:t> </a:t>
            </a:r>
            <a:r>
              <a:rPr sz="900" b="0" dirty="0" err="1">
                <a:solidFill>
                  <a:srgbClr val="6B625B"/>
                </a:solidFill>
                <a:latin typeface="Aptos"/>
                <a:ea typeface="Aptos"/>
                <a:cs typeface="Aptos"/>
              </a:rPr>
              <a:t>lý</a:t>
            </a:r>
            <a:r>
              <a:rPr sz="900" b="0" dirty="0">
                <a:solidFill>
                  <a:srgbClr val="6B625B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93403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44C3A28-D2CE-43A7-B976-61453B7F214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8"/>
          </a:solidFill>
          <a:ln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FF7138-43E7-498C-A0FF-04BC3585973A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A61E2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61E22"/>
                </a:solidFill>
                <a:latin typeface="Aptos"/>
                <a:ea typeface="Aptos"/>
                <a:cs typeface="Aptos"/>
              </a:rPr>
              <a:t>ĐỘNG LỰC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E58F0E-CC7D-4F58-88DD-BF6313A13791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2870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71411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Bài toán không chỉ là dựng được 3D, mà là dựng đủ tốt với chi phí tính toán chấp nhận được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rcRect l="6332" r="6332"/>
          <a:stretch>
            <a:fillRect/>
          </a:stretch>
        </p:blipFill>
        <p:spPr>
          <a:xfrm>
            <a:off x="609600" y="1619250"/>
            <a:ext cx="4953000" cy="35052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E635337-F2BB-4C48-9700-91E18BF90A32}"/>
              </a:ext>
            </a:extLst>
          </p:cNvPr>
          <p:cNvSpPr>
            <a:spLocks noGrp="1"/>
          </p:cNvSpPr>
          <p:nvPr/>
        </p:nvSpPr>
        <p:spPr>
          <a:xfrm>
            <a:off x="609600" y="5238750"/>
            <a:ext cx="4953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B625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625B"/>
                </a:solidFill>
                <a:latin typeface="Aptos"/>
                <a:ea typeface="Aptos"/>
                <a:cs typeface="Aptos"/>
              </a:rPr>
              <a:t>Một block ảnh UAV có thể đi qua nhiều pipeline khác nhau để tạo point cloud, mesh hoặc orthomosaic. Điểm nghẽn không chỉ nằm ở độ chính xác, mà còn ở thời gian chạy, VRAM, RAM và độ ổn định của pipeline.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BCDD40-B4E8-4F85-B239-98D5A29863AE}"/>
              </a:ext>
            </a:extLst>
          </p:cNvPr>
          <p:cNvSpPr>
            <a:spLocks noGrp="1"/>
          </p:cNvSpPr>
          <p:nvPr/>
        </p:nvSpPr>
        <p:spPr>
          <a:xfrm>
            <a:off x="6096000" y="1809750"/>
            <a:ext cx="2381250" cy="1409700"/>
          </a:xfrm>
          <a:prstGeom prst="rect">
            <a:avLst/>
          </a:prstGeom>
          <a:solidFill>
            <a:srgbClr val="FFFDFC"/>
          </a:solidFill>
          <a:ln w="9525">
            <a:solidFill>
              <a:srgbClr val="DCCFC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F60D92-77EE-4A18-8661-5577D1354E70}"/>
              </a:ext>
            </a:extLst>
          </p:cNvPr>
          <p:cNvSpPr>
            <a:spLocks noGrp="1"/>
          </p:cNvSpPr>
          <p:nvPr/>
        </p:nvSpPr>
        <p:spPr>
          <a:xfrm>
            <a:off x="6267450" y="1962150"/>
            <a:ext cx="2038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62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625B"/>
                </a:solidFill>
                <a:latin typeface="Aptos"/>
                <a:ea typeface="Aptos"/>
                <a:cs typeface="Aptos"/>
              </a:rPr>
              <a:t>SfM + MVS cổ điển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76CF4C-8EF3-4F8F-822D-3E7E26CB036F}"/>
              </a:ext>
            </a:extLst>
          </p:cNvPr>
          <p:cNvSpPr>
            <a:spLocks noGrp="1"/>
          </p:cNvSpPr>
          <p:nvPr/>
        </p:nvSpPr>
        <p:spPr>
          <a:xfrm>
            <a:off x="6267450" y="2209800"/>
            <a:ext cx="2038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E4F7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E4F73"/>
                </a:solidFill>
                <a:latin typeface="Aptos Display"/>
                <a:ea typeface="Aptos Display"/>
                <a:cs typeface="Aptos Display"/>
              </a:rPr>
              <a:t>Chất lượng tốt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42F2C2-16A4-49AD-941E-B93FAAC4B82D}"/>
              </a:ext>
            </a:extLst>
          </p:cNvPr>
          <p:cNvSpPr>
            <a:spLocks noGrp="1"/>
          </p:cNvSpPr>
          <p:nvPr/>
        </p:nvSpPr>
        <p:spPr>
          <a:xfrm>
            <a:off x="6267450" y="2571750"/>
            <a:ext cx="20383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1411"/>
                </a:solidFill>
                <a:latin typeface="Aptos"/>
                <a:ea typeface="Aptos"/>
                <a:cs typeface="Aptos"/>
              </a:rPr>
              <a:t>Nhưng cài đặt nặng, tốn CPU và thời gian.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890914-415E-460C-BF23-F60F26DBBB23}"/>
              </a:ext>
            </a:extLst>
          </p:cNvPr>
          <p:cNvSpPr>
            <a:spLocks noGrp="1"/>
          </p:cNvSpPr>
          <p:nvPr/>
        </p:nvSpPr>
        <p:spPr>
          <a:xfrm>
            <a:off x="8858250" y="1809750"/>
            <a:ext cx="2381250" cy="1409700"/>
          </a:xfrm>
          <a:prstGeom prst="rect">
            <a:avLst/>
          </a:prstGeom>
          <a:solidFill>
            <a:srgbClr val="FFFDFC"/>
          </a:solidFill>
          <a:ln w="9525">
            <a:solidFill>
              <a:srgbClr val="DCCFC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22BC2B-D804-422F-9D6E-E9CDC30C0C83}"/>
              </a:ext>
            </a:extLst>
          </p:cNvPr>
          <p:cNvSpPr>
            <a:spLocks noGrp="1"/>
          </p:cNvSpPr>
          <p:nvPr/>
        </p:nvSpPr>
        <p:spPr>
          <a:xfrm>
            <a:off x="9029700" y="1962150"/>
            <a:ext cx="2038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62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625B"/>
                </a:solidFill>
                <a:latin typeface="Aptos"/>
                <a:ea typeface="Aptos"/>
                <a:cs typeface="Aptos"/>
              </a:rPr>
              <a:t>Learned pointmap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FF0B00-CCC6-4B5F-B7CA-5CC5C4F4163B}"/>
              </a:ext>
            </a:extLst>
          </p:cNvPr>
          <p:cNvSpPr>
            <a:spLocks noGrp="1"/>
          </p:cNvSpPr>
          <p:nvPr/>
        </p:nvSpPr>
        <p:spPr>
          <a:xfrm>
            <a:off x="9029700" y="2209800"/>
            <a:ext cx="2038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A61E2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A61E22"/>
                </a:solidFill>
                <a:latin typeface="Aptos Display"/>
                <a:ea typeface="Aptos Display"/>
                <a:cs typeface="Aptos Display"/>
              </a:rPr>
              <a:t>Suy luận gọn hơn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1F9495B-88EA-40CA-AC55-AAE2D58757ED}"/>
              </a:ext>
            </a:extLst>
          </p:cNvPr>
          <p:cNvSpPr>
            <a:spLocks noGrp="1"/>
          </p:cNvSpPr>
          <p:nvPr/>
        </p:nvSpPr>
        <p:spPr>
          <a:xfrm>
            <a:off x="9029700" y="2571750"/>
            <a:ext cx="20383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1411"/>
                </a:solidFill>
                <a:latin typeface="Aptos"/>
                <a:ea typeface="Aptos"/>
                <a:cs typeface="Aptos"/>
              </a:rPr>
              <a:t>Nhưng full-pass trên toàn bộ chuỗi ảnh vẫn đắt.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9A49BC-29BF-4A14-A9E3-8868B89686B0}"/>
              </a:ext>
            </a:extLst>
          </p:cNvPr>
          <p:cNvSpPr>
            <a:spLocks noGrp="1"/>
          </p:cNvSpPr>
          <p:nvPr/>
        </p:nvSpPr>
        <p:spPr>
          <a:xfrm>
            <a:off x="6096000" y="3467100"/>
            <a:ext cx="5143500" cy="1409700"/>
          </a:xfrm>
          <a:prstGeom prst="rect">
            <a:avLst/>
          </a:prstGeom>
          <a:solidFill>
            <a:srgbClr val="DAEFE3"/>
          </a:solidFill>
          <a:ln w="9525">
            <a:solidFill>
              <a:srgbClr val="DCCFC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65E9994-9EAA-45CB-87A2-E88B65C4499B}"/>
              </a:ext>
            </a:extLst>
          </p:cNvPr>
          <p:cNvSpPr>
            <a:spLocks noGrp="1"/>
          </p:cNvSpPr>
          <p:nvPr/>
        </p:nvSpPr>
        <p:spPr>
          <a:xfrm>
            <a:off x="6267450" y="3619500"/>
            <a:ext cx="4800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62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625B"/>
                </a:solidFill>
                <a:latin typeface="Aptos"/>
                <a:ea typeface="Aptos"/>
                <a:cs typeface="Aptos"/>
              </a:rPr>
              <a:t>Câu hỏi thực dụng của đề tài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CA53BE-37FE-41EB-BC03-F66B4DA17908}"/>
              </a:ext>
            </a:extLst>
          </p:cNvPr>
          <p:cNvSpPr>
            <a:spLocks noGrp="1"/>
          </p:cNvSpPr>
          <p:nvPr/>
        </p:nvSpPr>
        <p:spPr>
          <a:xfrm>
            <a:off x="6267450" y="3867150"/>
            <a:ext cx="4800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E7D5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2E7D5B"/>
                </a:solidFill>
                <a:latin typeface="Aptos Display"/>
                <a:ea typeface="Aptos Display"/>
                <a:cs typeface="Aptos Display"/>
              </a:rPr>
              <a:t>Có cần refine mọi frame không?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F73C77-D1A4-4A94-AB87-B108AE010994}"/>
              </a:ext>
            </a:extLst>
          </p:cNvPr>
          <p:cNvSpPr>
            <a:spLocks noGrp="1"/>
          </p:cNvSpPr>
          <p:nvPr/>
        </p:nvSpPr>
        <p:spPr>
          <a:xfrm>
            <a:off x="6267450" y="4229100"/>
            <a:ext cx="48006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1411"/>
                </a:solidFill>
                <a:latin typeface="Aptos"/>
                <a:ea typeface="Aptos"/>
                <a:cs typeface="Aptos"/>
              </a:rPr>
              <a:t>Nếu chỉ refine các frame thực sự rủi ro, ta có thể giữ chất lượng gần baseline mạnh mà bớt chi phí hơn.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C374AAA-AE9A-480E-9F04-54706C797345}"/>
              </a:ext>
            </a:extLst>
          </p:cNvPr>
          <p:cNvSpPr>
            <a:spLocks noGrp="1"/>
          </p:cNvSpPr>
          <p:nvPr/>
        </p:nvSpPr>
        <p:spPr>
          <a:xfrm>
            <a:off x="6096000" y="5276850"/>
            <a:ext cx="5143500" cy="723900"/>
          </a:xfrm>
          <a:prstGeom prst="rect">
            <a:avLst/>
          </a:prstGeom>
          <a:solidFill>
            <a:srgbClr val="A61E22"/>
          </a:solidFill>
          <a:ln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0587610-4CBB-4D48-A40F-CE52FF7546DA}"/>
              </a:ext>
            </a:extLst>
          </p:cNvPr>
          <p:cNvSpPr>
            <a:spLocks noGrp="1"/>
          </p:cNvSpPr>
          <p:nvPr/>
        </p:nvSpPr>
        <p:spPr>
          <a:xfrm>
            <a:off x="6267450" y="5401253"/>
            <a:ext cx="4667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Từ</a:t>
            </a:r>
            <a:r>
              <a:rPr sz="165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đây</a:t>
            </a:r>
            <a:r>
              <a:rPr sz="165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, GEO </a:t>
            </a:r>
            <a:r>
              <a:rPr sz="1650" b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chuyển</a:t>
            </a:r>
            <a:r>
              <a:rPr sz="165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trọng</a:t>
            </a:r>
            <a:r>
              <a:rPr sz="165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tâm</a:t>
            </a:r>
            <a:r>
              <a:rPr sz="165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từ</a:t>
            </a:r>
            <a:r>
              <a:rPr sz="165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“reconstruct </a:t>
            </a:r>
            <a:r>
              <a:rPr sz="1650" b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thế</a:t>
            </a:r>
            <a:r>
              <a:rPr sz="165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nào</a:t>
            </a:r>
            <a:r>
              <a:rPr sz="165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” sang “refine </a:t>
            </a:r>
            <a:r>
              <a:rPr sz="1650" b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ở</a:t>
            </a:r>
            <a:r>
              <a:rPr sz="165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đâu</a:t>
            </a:r>
            <a:r>
              <a:rPr sz="165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”.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6D3DC9-E824-4DAE-8AD9-3B17A9464E1D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10972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625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625B"/>
                </a:solidFill>
                <a:latin typeface="Aptos"/>
                <a:ea typeface="Aptos"/>
                <a:cs typeface="Aptos"/>
              </a:rPr>
              <a:t>Ý tưởng cốt lõi của đồ án là dùng risk score để phân bổ refinement budget một cách có chọn lọc.</a:t>
            </a:r>
          </a:p>
        </p:txBody>
      </p:sp>
    </p:spTree>
    <p:extLst>
      <p:ext uri="{BB962C8B-B14F-4D97-AF65-F5344CB8AC3E}">
        <p14:creationId xmlns:p14="http://schemas.microsoft.com/office/powerpoint/2010/main" val="1388556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371F960D-7849-40BD-9CDC-3A5C1784691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8"/>
          </a:solidFill>
          <a:ln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900C4C-6E21-4DB4-B9AC-1B76C6F2C5C2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A61E2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61E22"/>
                </a:solidFill>
                <a:latin typeface="Aptos"/>
                <a:ea typeface="Aptos"/>
                <a:cs typeface="Aptos"/>
              </a:rPr>
              <a:t>MỤC TIÊU &amp; ĐÓNG GÓP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790369-0BC3-40CC-902D-8401A8933701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0965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71411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Đồ án không chỉ đề xuất ý tưởng, mà còn xây dựng một framework benchmark chạy end-to-end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23E6F4-8E36-4E2F-9278-F20CE57D2296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3352800" cy="4000500"/>
          </a:xfrm>
          <a:prstGeom prst="rect">
            <a:avLst/>
          </a:prstGeom>
          <a:solidFill>
            <a:srgbClr val="FFFDFC"/>
          </a:solidFill>
          <a:ln w="9525">
            <a:solidFill>
              <a:srgbClr val="DCCFC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EB6A8F-9851-4AA9-9B1D-C54D3B0F523B}"/>
              </a:ext>
            </a:extLst>
          </p:cNvPr>
          <p:cNvSpPr>
            <a:spLocks noGrp="1"/>
          </p:cNvSpPr>
          <p:nvPr/>
        </p:nvSpPr>
        <p:spPr>
          <a:xfrm>
            <a:off x="819150" y="1828800"/>
            <a:ext cx="1314450" cy="266700"/>
          </a:xfrm>
          <a:prstGeom prst="rect">
            <a:avLst/>
          </a:prstGeom>
          <a:solidFill>
            <a:srgbClr val="EFD9D6"/>
          </a:solidFill>
          <a:ln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ABD3AD-95C8-48A5-B331-70824BC020AB}"/>
              </a:ext>
            </a:extLst>
          </p:cNvPr>
          <p:cNvSpPr>
            <a:spLocks noGrp="1"/>
          </p:cNvSpPr>
          <p:nvPr/>
        </p:nvSpPr>
        <p:spPr>
          <a:xfrm>
            <a:off x="819150" y="1876425"/>
            <a:ext cx="1314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A61E2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1E22"/>
                </a:solidFill>
                <a:latin typeface="Aptos"/>
                <a:ea typeface="Aptos"/>
                <a:cs typeface="Aptos"/>
              </a:rPr>
              <a:t>Mục tiêu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937E98-F56D-4A34-9EF4-ABDA228248B6}"/>
              </a:ext>
            </a:extLst>
          </p:cNvPr>
          <p:cNvSpPr>
            <a:spLocks noGrp="1"/>
          </p:cNvSpPr>
          <p:nvPr/>
        </p:nvSpPr>
        <p:spPr>
          <a:xfrm>
            <a:off x="819150" y="2362200"/>
            <a:ext cx="76200" cy="76200"/>
          </a:xfrm>
          <a:prstGeom prst="rect">
            <a:avLst/>
          </a:prstGeom>
          <a:solidFill>
            <a:srgbClr val="A61E22"/>
          </a:solidFill>
          <a:ln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8E146B-7E6E-47D4-A10D-05FB8B1670A4}"/>
              </a:ext>
            </a:extLst>
          </p:cNvPr>
          <p:cNvSpPr>
            <a:spLocks noGrp="1"/>
          </p:cNvSpPr>
          <p:nvPr/>
        </p:nvSpPr>
        <p:spPr>
          <a:xfrm>
            <a:off x="990600" y="2266950"/>
            <a:ext cx="262890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1411"/>
                </a:solidFill>
                <a:latin typeface="Aptos"/>
                <a:ea typeface="Aptos"/>
                <a:cs typeface="Aptos"/>
              </a:rPr>
              <a:t>Khảo sát có hệ thống các hướng tiếp cận 3D reconstruction liên quan đến UAV.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67CA69-4E78-4D0B-9A04-2D8FE652580D}"/>
              </a:ext>
            </a:extLst>
          </p:cNvPr>
          <p:cNvSpPr>
            <a:spLocks noGrp="1"/>
          </p:cNvSpPr>
          <p:nvPr/>
        </p:nvSpPr>
        <p:spPr>
          <a:xfrm>
            <a:off x="819150" y="3124200"/>
            <a:ext cx="76200" cy="76200"/>
          </a:xfrm>
          <a:prstGeom prst="rect">
            <a:avLst/>
          </a:prstGeom>
          <a:solidFill>
            <a:srgbClr val="A61E22"/>
          </a:solidFill>
          <a:ln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549637-3535-4D72-8880-78CB38A662B8}"/>
              </a:ext>
            </a:extLst>
          </p:cNvPr>
          <p:cNvSpPr>
            <a:spLocks noGrp="1"/>
          </p:cNvSpPr>
          <p:nvPr/>
        </p:nvSpPr>
        <p:spPr>
          <a:xfrm>
            <a:off x="990600" y="3028950"/>
            <a:ext cx="262890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1411"/>
                </a:solidFill>
                <a:latin typeface="Aptos"/>
                <a:ea typeface="Aptos"/>
                <a:cs typeface="Aptos"/>
              </a:rPr>
              <a:t>Đề xuất chiến lược risk-guided selective refinement.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0C089D-001A-4BBE-87B4-FD7624BDC3EA}"/>
              </a:ext>
            </a:extLst>
          </p:cNvPr>
          <p:cNvSpPr>
            <a:spLocks noGrp="1"/>
          </p:cNvSpPr>
          <p:nvPr/>
        </p:nvSpPr>
        <p:spPr>
          <a:xfrm>
            <a:off x="819150" y="3886200"/>
            <a:ext cx="76200" cy="76200"/>
          </a:xfrm>
          <a:prstGeom prst="rect">
            <a:avLst/>
          </a:prstGeom>
          <a:solidFill>
            <a:srgbClr val="A61E22"/>
          </a:solidFill>
          <a:ln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4196AB-3008-4269-A92C-5ADC0654AEBF}"/>
              </a:ext>
            </a:extLst>
          </p:cNvPr>
          <p:cNvSpPr>
            <a:spLocks noGrp="1"/>
          </p:cNvSpPr>
          <p:nvPr/>
        </p:nvSpPr>
        <p:spPr>
          <a:xfrm>
            <a:off x="990600" y="3790950"/>
            <a:ext cx="262890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1411"/>
                </a:solidFill>
                <a:latin typeface="Aptos"/>
                <a:ea typeface="Aptos"/>
                <a:cs typeface="Aptos"/>
              </a:rPr>
              <a:t>Xây dựng pipeline benchmark độc lập có khả năng chuẩn bị dữ liệu, chạy mô hình và xuất báo cáo.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8D4005-7E9C-465B-996A-D757AB43AC70}"/>
              </a:ext>
            </a:extLst>
          </p:cNvPr>
          <p:cNvSpPr>
            <a:spLocks noGrp="1"/>
          </p:cNvSpPr>
          <p:nvPr/>
        </p:nvSpPr>
        <p:spPr>
          <a:xfrm>
            <a:off x="4419600" y="1619250"/>
            <a:ext cx="3352800" cy="4000500"/>
          </a:xfrm>
          <a:prstGeom prst="rect">
            <a:avLst/>
          </a:prstGeom>
          <a:solidFill>
            <a:srgbClr val="FFFDFC"/>
          </a:solidFill>
          <a:ln w="9525">
            <a:solidFill>
              <a:srgbClr val="DCCFC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2951A6-3830-4ED5-9F99-76EE56681172}"/>
              </a:ext>
            </a:extLst>
          </p:cNvPr>
          <p:cNvSpPr>
            <a:spLocks noGrp="1"/>
          </p:cNvSpPr>
          <p:nvPr/>
        </p:nvSpPr>
        <p:spPr>
          <a:xfrm>
            <a:off x="4629150" y="1828800"/>
            <a:ext cx="1504950" cy="266700"/>
          </a:xfrm>
          <a:prstGeom prst="rect">
            <a:avLst/>
          </a:prstGeom>
          <a:solidFill>
            <a:srgbClr val="DCE8F2"/>
          </a:solidFill>
          <a:ln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F516A8-C386-42EA-9E83-0A3840D81EA1}"/>
              </a:ext>
            </a:extLst>
          </p:cNvPr>
          <p:cNvSpPr>
            <a:spLocks noGrp="1"/>
          </p:cNvSpPr>
          <p:nvPr/>
        </p:nvSpPr>
        <p:spPr>
          <a:xfrm>
            <a:off x="4629150" y="1876425"/>
            <a:ext cx="1504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E4F7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4F73"/>
                </a:solidFill>
                <a:latin typeface="Aptos"/>
                <a:ea typeface="Aptos"/>
                <a:cs typeface="Aptos"/>
              </a:rPr>
              <a:t>Đóng góp kỹ thuật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F664DA2-1673-496C-B6DF-9E94222ABBDC}"/>
              </a:ext>
            </a:extLst>
          </p:cNvPr>
          <p:cNvSpPr>
            <a:spLocks noGrp="1"/>
          </p:cNvSpPr>
          <p:nvPr/>
        </p:nvSpPr>
        <p:spPr>
          <a:xfrm>
            <a:off x="4629150" y="2362200"/>
            <a:ext cx="76200" cy="76200"/>
          </a:xfrm>
          <a:prstGeom prst="rect">
            <a:avLst/>
          </a:prstGeom>
          <a:solidFill>
            <a:srgbClr val="1E4F73"/>
          </a:solidFill>
          <a:ln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2694369-1C47-4162-ACEF-4870D550F76C}"/>
              </a:ext>
            </a:extLst>
          </p:cNvPr>
          <p:cNvSpPr>
            <a:spLocks noGrp="1"/>
          </p:cNvSpPr>
          <p:nvPr/>
        </p:nvSpPr>
        <p:spPr>
          <a:xfrm>
            <a:off x="4800600" y="2266950"/>
            <a:ext cx="262890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1411"/>
                </a:solidFill>
                <a:latin typeface="Aptos"/>
                <a:ea typeface="Aptos"/>
                <a:cs typeface="Aptos"/>
              </a:rPr>
              <a:t>Kết hợp DUSt3R và MASt3R theo cơ chế coarse-to-refine có chọn lọc.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4105A83-4491-4D40-AA4F-5CE04B1968B0}"/>
              </a:ext>
            </a:extLst>
          </p:cNvPr>
          <p:cNvSpPr>
            <a:spLocks noGrp="1"/>
          </p:cNvSpPr>
          <p:nvPr/>
        </p:nvSpPr>
        <p:spPr>
          <a:xfrm>
            <a:off x="4629150" y="3124200"/>
            <a:ext cx="76200" cy="76200"/>
          </a:xfrm>
          <a:prstGeom prst="rect">
            <a:avLst/>
          </a:prstGeom>
          <a:solidFill>
            <a:srgbClr val="1E4F73"/>
          </a:solidFill>
          <a:ln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551AE5-3C52-4B19-B1A8-7F49EA0BF213}"/>
              </a:ext>
            </a:extLst>
          </p:cNvPr>
          <p:cNvSpPr>
            <a:spLocks noGrp="1"/>
          </p:cNvSpPr>
          <p:nvPr/>
        </p:nvSpPr>
        <p:spPr>
          <a:xfrm>
            <a:off x="4800600" y="3028950"/>
            <a:ext cx="262890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1411"/>
                </a:solidFill>
                <a:latin typeface="Aptos"/>
                <a:ea typeface="Aptos"/>
                <a:cs typeface="Aptos"/>
              </a:rPr>
              <a:t>Thiết kế risk score từ overlap, texture, depth prior và viewpoint.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A58A8DA-1F6D-4CC9-A83F-ABA3BA115D23}"/>
              </a:ext>
            </a:extLst>
          </p:cNvPr>
          <p:cNvSpPr>
            <a:spLocks noGrp="1"/>
          </p:cNvSpPr>
          <p:nvPr/>
        </p:nvSpPr>
        <p:spPr>
          <a:xfrm>
            <a:off x="4629150" y="3886200"/>
            <a:ext cx="76200" cy="76200"/>
          </a:xfrm>
          <a:prstGeom prst="rect">
            <a:avLst/>
          </a:prstGeom>
          <a:solidFill>
            <a:srgbClr val="1E4F73"/>
          </a:solidFill>
          <a:ln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01F4456-7708-4611-9E3C-A0A9FB67E21F}"/>
              </a:ext>
            </a:extLst>
          </p:cNvPr>
          <p:cNvSpPr>
            <a:spLocks noGrp="1"/>
          </p:cNvSpPr>
          <p:nvPr/>
        </p:nvSpPr>
        <p:spPr>
          <a:xfrm>
            <a:off x="4800600" y="3790950"/>
            <a:ext cx="262890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1411"/>
                </a:solidFill>
                <a:latin typeface="Aptos"/>
                <a:ea typeface="Aptos"/>
                <a:cs typeface="Aptos"/>
              </a:rPr>
              <a:t>Tạo bộ script benchmark và visualization đủ để lặp nhanh các thí nghiệm.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452B52F-68DA-4414-9BAA-549C951DA3EF}"/>
              </a:ext>
            </a:extLst>
          </p:cNvPr>
          <p:cNvSpPr>
            <a:spLocks noGrp="1"/>
          </p:cNvSpPr>
          <p:nvPr/>
        </p:nvSpPr>
        <p:spPr>
          <a:xfrm>
            <a:off x="8229600" y="1619250"/>
            <a:ext cx="3352800" cy="4000500"/>
          </a:xfrm>
          <a:prstGeom prst="rect">
            <a:avLst/>
          </a:prstGeom>
          <a:solidFill>
            <a:srgbClr val="FFFDFC"/>
          </a:solidFill>
          <a:ln w="9525">
            <a:solidFill>
              <a:srgbClr val="DCCFC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0E82723-D8D0-422C-B144-4F0D5A98D447}"/>
              </a:ext>
            </a:extLst>
          </p:cNvPr>
          <p:cNvSpPr>
            <a:spLocks noGrp="1"/>
          </p:cNvSpPr>
          <p:nvPr/>
        </p:nvSpPr>
        <p:spPr>
          <a:xfrm>
            <a:off x="8439150" y="1828800"/>
            <a:ext cx="1219200" cy="266700"/>
          </a:xfrm>
          <a:prstGeom prst="rect">
            <a:avLst/>
          </a:prstGeom>
          <a:solidFill>
            <a:srgbClr val="EFD9D6"/>
          </a:solidFill>
          <a:ln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C8176ED-ED18-43D0-9DE6-88D1D8699655}"/>
              </a:ext>
            </a:extLst>
          </p:cNvPr>
          <p:cNvSpPr>
            <a:spLocks noGrp="1"/>
          </p:cNvSpPr>
          <p:nvPr/>
        </p:nvSpPr>
        <p:spPr>
          <a:xfrm>
            <a:off x="8439150" y="1876425"/>
            <a:ext cx="1219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A61E2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1E22"/>
                </a:solidFill>
                <a:latin typeface="Aptos"/>
                <a:ea typeface="Aptos"/>
                <a:cs typeface="Aptos"/>
              </a:rPr>
              <a:t>Đầu ra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8BC1966-1209-42D2-9F4D-3017359BAE80}"/>
              </a:ext>
            </a:extLst>
          </p:cNvPr>
          <p:cNvSpPr>
            <a:spLocks noGrp="1"/>
          </p:cNvSpPr>
          <p:nvPr/>
        </p:nvSpPr>
        <p:spPr>
          <a:xfrm>
            <a:off x="8439150" y="2266950"/>
            <a:ext cx="2933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62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625B"/>
                </a:solidFill>
                <a:latin typeface="Aptos"/>
                <a:ea typeface="Aptos"/>
                <a:cs typeface="Aptos"/>
              </a:rPr>
              <a:t>Framework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18CA5A5-DAA1-4810-A760-E5340D768109}"/>
              </a:ext>
            </a:extLst>
          </p:cNvPr>
          <p:cNvSpPr>
            <a:spLocks noGrp="1"/>
          </p:cNvSpPr>
          <p:nvPr/>
        </p:nvSpPr>
        <p:spPr>
          <a:xfrm>
            <a:off x="8439150" y="2476500"/>
            <a:ext cx="29337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1411"/>
                </a:solidFill>
                <a:latin typeface="Aptos"/>
                <a:ea typeface="Aptos"/>
                <a:cs typeface="Aptos"/>
              </a:rPr>
              <a:t>Repo GEO có thể chạy benchmark, lưu metric, xuất report và qualitative figures.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CC81821-3EBF-4389-879C-E254633CDFF6}"/>
              </a:ext>
            </a:extLst>
          </p:cNvPr>
          <p:cNvSpPr>
            <a:spLocks noGrp="1"/>
          </p:cNvSpPr>
          <p:nvPr/>
        </p:nvSpPr>
        <p:spPr>
          <a:xfrm>
            <a:off x="8439150" y="3238500"/>
            <a:ext cx="2933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62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625B"/>
                </a:solidFill>
                <a:latin typeface="Aptos"/>
                <a:ea typeface="Aptos"/>
                <a:cs typeface="Aptos"/>
              </a:rPr>
              <a:t>Kết quả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3A07A3C-55B2-4034-9337-29AAEBB4A7DA}"/>
              </a:ext>
            </a:extLst>
          </p:cNvPr>
          <p:cNvSpPr>
            <a:spLocks noGrp="1"/>
          </p:cNvSpPr>
          <p:nvPr/>
        </p:nvSpPr>
        <p:spPr>
          <a:xfrm>
            <a:off x="8439150" y="3448050"/>
            <a:ext cx="29337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1411"/>
                </a:solidFill>
                <a:latin typeface="Aptos"/>
                <a:ea typeface="Aptos"/>
                <a:cs typeface="Aptos"/>
              </a:rPr>
              <a:t>Hai dataset thật: Dronescapes và ODMData. Ba baseline learned: DUSt3R, MASt3R, risk-hybrid.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1CC6FD9-E7CD-4D20-9C4F-769A7D609E46}"/>
              </a:ext>
            </a:extLst>
          </p:cNvPr>
          <p:cNvSpPr>
            <a:spLocks noGrp="1"/>
          </p:cNvSpPr>
          <p:nvPr/>
        </p:nvSpPr>
        <p:spPr>
          <a:xfrm>
            <a:off x="8439150" y="4362450"/>
            <a:ext cx="2933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62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625B"/>
                </a:solidFill>
                <a:latin typeface="Aptos"/>
                <a:ea typeface="Aptos"/>
                <a:cs typeface="Aptos"/>
              </a:rPr>
              <a:t>Ý nghĩa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4077B1E-6F10-498A-8B10-A2373060F165}"/>
              </a:ext>
            </a:extLst>
          </p:cNvPr>
          <p:cNvSpPr>
            <a:spLocks noGrp="1"/>
          </p:cNvSpPr>
          <p:nvPr/>
        </p:nvSpPr>
        <p:spPr>
          <a:xfrm>
            <a:off x="8439150" y="4572000"/>
            <a:ext cx="29337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E7D5B"/>
                </a:solidFill>
                <a:latin typeface="Aptos"/>
                <a:ea typeface="Aptos"/>
                <a:cs typeface="Aptos"/>
              </a:rPr>
              <a:t>Chứng minh selective refinement có thể là lớp điều phối compute cho 3D reconstruction UAV.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A0C98CE-6D53-4CF8-BAAD-9953B22A80B6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10972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625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625B"/>
                </a:solidFill>
                <a:latin typeface="Aptos"/>
                <a:ea typeface="Aptos"/>
                <a:cs typeface="Aptos"/>
              </a:rPr>
              <a:t>Thông điệp của deck: novelty nằm ở cách phân bổ refinement budget, không phải ở việc phát minh backbone 3D mới.</a:t>
            </a:r>
          </a:p>
        </p:txBody>
      </p:sp>
    </p:spTree>
    <p:extLst>
      <p:ext uri="{BB962C8B-B14F-4D97-AF65-F5344CB8AC3E}">
        <p14:creationId xmlns:p14="http://schemas.microsoft.com/office/powerpoint/2010/main" val="908307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8FD3AA6-9B8C-4238-8F7B-7C2BAE3A28B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8"/>
          </a:solidFill>
          <a:ln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B9F0D0-D3EB-46A1-A705-C4CC61B426E4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A61E2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61E22"/>
                </a:solidFill>
                <a:latin typeface="Aptos"/>
                <a:ea typeface="Aptos"/>
                <a:cs typeface="Aptos"/>
              </a:rPr>
              <a:t>CƠ SỞ NỀN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ADCF92-9014-4E32-9D3F-3024F7AEF5FB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4775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71411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DUSt3R và MASt3R giải hai phần việc khác nhau; khoảng trống nằm ở quyết định refine frame nào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06E144-C64E-4B49-9D9A-361996D31CF0}"/>
              </a:ext>
            </a:extLst>
          </p:cNvPr>
          <p:cNvSpPr>
            <a:spLocks noGrp="1"/>
          </p:cNvSpPr>
          <p:nvPr/>
        </p:nvSpPr>
        <p:spPr>
          <a:xfrm>
            <a:off x="609600" y="1638300"/>
            <a:ext cx="5219700" cy="3733800"/>
          </a:xfrm>
          <a:prstGeom prst="rect">
            <a:avLst/>
          </a:prstGeom>
          <a:solidFill>
            <a:srgbClr val="FFFDFC"/>
          </a:solidFill>
          <a:ln w="9525">
            <a:solidFill>
              <a:srgbClr val="DCCFC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257CD0-1D4F-47EA-9111-F8C490A7FFC6}"/>
              </a:ext>
            </a:extLst>
          </p:cNvPr>
          <p:cNvSpPr>
            <a:spLocks noGrp="1"/>
          </p:cNvSpPr>
          <p:nvPr/>
        </p:nvSpPr>
        <p:spPr>
          <a:xfrm>
            <a:off x="819150" y="1847850"/>
            <a:ext cx="1009650" cy="266700"/>
          </a:xfrm>
          <a:prstGeom prst="rect">
            <a:avLst/>
          </a:prstGeom>
          <a:solidFill>
            <a:srgbClr val="EFD9D6"/>
          </a:solidFill>
          <a:ln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0EDDB5-E30F-4B4E-8856-892FB44B1267}"/>
              </a:ext>
            </a:extLst>
          </p:cNvPr>
          <p:cNvSpPr>
            <a:spLocks noGrp="1"/>
          </p:cNvSpPr>
          <p:nvPr/>
        </p:nvSpPr>
        <p:spPr>
          <a:xfrm>
            <a:off x="819150" y="1895475"/>
            <a:ext cx="1009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A61E2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1E22"/>
                </a:solidFill>
                <a:latin typeface="Aptos"/>
                <a:ea typeface="Aptos"/>
                <a:cs typeface="Aptos"/>
              </a:rPr>
              <a:t>DUSt3R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19150" y="2602477"/>
            <a:ext cx="4800600" cy="104344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321207E-5F5D-4404-BD71-AE573A3655A1}"/>
              </a:ext>
            </a:extLst>
          </p:cNvPr>
          <p:cNvSpPr>
            <a:spLocks noGrp="1"/>
          </p:cNvSpPr>
          <p:nvPr/>
        </p:nvSpPr>
        <p:spPr>
          <a:xfrm>
            <a:off x="819150" y="4114800"/>
            <a:ext cx="48006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B625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625B"/>
                </a:solidFill>
                <a:latin typeface="Aptos"/>
                <a:ea typeface="Aptos"/>
                <a:cs typeface="Aptos"/>
              </a:rPr>
              <a:t>Vai trò trong đồ án: coarse geometric reasoning trên toàn bộ chuỗi ảnh, tạo lớp geometry thô để đánh giá rủi ro và cung cấp nền cho bước refine.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33CF40-EB2D-458A-911A-2163C72C71D5}"/>
              </a:ext>
            </a:extLst>
          </p:cNvPr>
          <p:cNvSpPr>
            <a:spLocks noGrp="1"/>
          </p:cNvSpPr>
          <p:nvPr/>
        </p:nvSpPr>
        <p:spPr>
          <a:xfrm>
            <a:off x="6362700" y="1638300"/>
            <a:ext cx="5219700" cy="3733800"/>
          </a:xfrm>
          <a:prstGeom prst="rect">
            <a:avLst/>
          </a:prstGeom>
          <a:solidFill>
            <a:srgbClr val="FFFDFC"/>
          </a:solidFill>
          <a:ln w="9525">
            <a:solidFill>
              <a:srgbClr val="DCCFC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D21E88-FAC2-41BF-8CED-B41291DFD06B}"/>
              </a:ext>
            </a:extLst>
          </p:cNvPr>
          <p:cNvSpPr>
            <a:spLocks noGrp="1"/>
          </p:cNvSpPr>
          <p:nvPr/>
        </p:nvSpPr>
        <p:spPr>
          <a:xfrm>
            <a:off x="6572250" y="1847850"/>
            <a:ext cx="1047750" cy="266700"/>
          </a:xfrm>
          <a:prstGeom prst="rect">
            <a:avLst/>
          </a:prstGeom>
          <a:solidFill>
            <a:srgbClr val="DCE8F2"/>
          </a:solidFill>
          <a:ln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BD35F7-6770-4B1A-85B0-3E43FB481C6D}"/>
              </a:ext>
            </a:extLst>
          </p:cNvPr>
          <p:cNvSpPr>
            <a:spLocks noGrp="1"/>
          </p:cNvSpPr>
          <p:nvPr/>
        </p:nvSpPr>
        <p:spPr>
          <a:xfrm>
            <a:off x="6572250" y="1895475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E4F7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4F73"/>
                </a:solidFill>
                <a:latin typeface="Aptos"/>
                <a:ea typeface="Aptos"/>
                <a:cs typeface="Aptos"/>
              </a:rPr>
              <a:t>MASt3R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rcRect t="17549" b="17549"/>
          <a:stretch>
            <a:fillRect/>
          </a:stretch>
        </p:blipFill>
        <p:spPr>
          <a:xfrm>
            <a:off x="6572250" y="2247900"/>
            <a:ext cx="4800600" cy="17526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C260984-D36E-4011-9713-FE4E15046149}"/>
              </a:ext>
            </a:extLst>
          </p:cNvPr>
          <p:cNvSpPr>
            <a:spLocks noGrp="1"/>
          </p:cNvSpPr>
          <p:nvPr/>
        </p:nvSpPr>
        <p:spPr>
          <a:xfrm>
            <a:off x="6572250" y="4114800"/>
            <a:ext cx="48006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B625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625B"/>
                </a:solidFill>
                <a:latin typeface="Aptos"/>
                <a:ea typeface="Aptos"/>
                <a:cs typeface="Aptos"/>
              </a:rPr>
              <a:t>Vai trò trong đồ án: refinement mạnh hơn về matching và stereo geometry, nhưng nặng hơn nếu chạy full-pass trên toàn bộ frame.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9DAEEE4-15E3-4580-BB90-E007A7E520BB}"/>
              </a:ext>
            </a:extLst>
          </p:cNvPr>
          <p:cNvSpPr>
            <a:spLocks noGrp="1"/>
          </p:cNvSpPr>
          <p:nvPr/>
        </p:nvSpPr>
        <p:spPr>
          <a:xfrm>
            <a:off x="609600" y="5676900"/>
            <a:ext cx="10972800" cy="685800"/>
          </a:xfrm>
          <a:prstGeom prst="rect">
            <a:avLst/>
          </a:prstGeom>
          <a:solidFill>
            <a:srgbClr val="1E4F73"/>
          </a:solidFill>
          <a:ln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9FAD85-4866-4C73-8C23-3B12B9F94677}"/>
              </a:ext>
            </a:extLst>
          </p:cNvPr>
          <p:cNvSpPr>
            <a:spLocks noGrp="1"/>
          </p:cNvSpPr>
          <p:nvPr/>
        </p:nvSpPr>
        <p:spPr>
          <a:xfrm>
            <a:off x="850173" y="5789019"/>
            <a:ext cx="10477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Khoảng</a:t>
            </a:r>
            <a:r>
              <a:rPr sz="165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trống</a:t>
            </a:r>
            <a:r>
              <a:rPr sz="165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mà</a:t>
            </a:r>
            <a:r>
              <a:rPr sz="165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GEO </a:t>
            </a:r>
            <a:r>
              <a:rPr sz="1650" b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nhắm</a:t>
            </a:r>
            <a:r>
              <a:rPr sz="165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tới</a:t>
            </a:r>
            <a:r>
              <a:rPr sz="165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: </a:t>
            </a:r>
            <a:r>
              <a:rPr sz="1650" b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giữ</a:t>
            </a:r>
            <a:r>
              <a:rPr sz="165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DUSt3R </a:t>
            </a:r>
            <a:r>
              <a:rPr sz="1650" b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làm</a:t>
            </a:r>
            <a:r>
              <a:rPr sz="165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lớp</a:t>
            </a:r>
            <a:r>
              <a:rPr sz="165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coarse </a:t>
            </a:r>
            <a:r>
              <a:rPr sz="1650" b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toàn</a:t>
            </a:r>
            <a:r>
              <a:rPr sz="165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cục</a:t>
            </a:r>
            <a:r>
              <a:rPr sz="165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, </a:t>
            </a:r>
            <a:r>
              <a:rPr sz="1650" b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nhưng</a:t>
            </a:r>
            <a:r>
              <a:rPr sz="165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chỉ</a:t>
            </a:r>
            <a:r>
              <a:rPr sz="165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dùng</a:t>
            </a:r>
            <a:r>
              <a:rPr sz="165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MASt3R </a:t>
            </a:r>
            <a:r>
              <a:rPr sz="1650" b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ở</a:t>
            </a:r>
            <a:r>
              <a:rPr sz="165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những</a:t>
            </a:r>
            <a:r>
              <a:rPr sz="165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frame </a:t>
            </a:r>
            <a:r>
              <a:rPr sz="1650" b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có</a:t>
            </a:r>
            <a:r>
              <a:rPr sz="165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nguy</a:t>
            </a:r>
            <a:r>
              <a:rPr sz="165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cơ</a:t>
            </a:r>
            <a:r>
              <a:rPr sz="165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làm</a:t>
            </a:r>
            <a:r>
              <a:rPr sz="165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hỏng</a:t>
            </a:r>
            <a:r>
              <a:rPr sz="165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chất</a:t>
            </a:r>
            <a:r>
              <a:rPr sz="165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lượng</a:t>
            </a:r>
            <a:r>
              <a:rPr sz="165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tái</a:t>
            </a:r>
            <a:r>
              <a:rPr sz="165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tạo</a:t>
            </a:r>
            <a:r>
              <a:rPr sz="165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B96BA6-7BA6-4A86-AC4E-AC2BB4EBB5FE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10972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625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625B"/>
                </a:solidFill>
                <a:latin typeface="Aptos"/>
                <a:ea typeface="Aptos"/>
                <a:cs typeface="Aptos"/>
              </a:rPr>
              <a:t>Nói ngắn gọn: DUSt3R cho độ phủ, MASt3R cho chất lượng; GEO thêm cơ chế quyết định nơi cần chi compute.</a:t>
            </a:r>
          </a:p>
        </p:txBody>
      </p:sp>
    </p:spTree>
    <p:extLst>
      <p:ext uri="{BB962C8B-B14F-4D97-AF65-F5344CB8AC3E}">
        <p14:creationId xmlns:p14="http://schemas.microsoft.com/office/powerpoint/2010/main" val="150684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6E996CE5-AC3D-4714-8C52-69C260706FB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8"/>
          </a:solidFill>
          <a:ln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4A00EA-D1E8-4A67-9ED2-BC01A783B751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A61E2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61E22"/>
                </a:solidFill>
                <a:latin typeface="Aptos"/>
                <a:ea typeface="Aptos"/>
                <a:cs typeface="Aptos"/>
              </a:rPr>
              <a:t>PHƯƠNG PHÁP ĐỀ XUẤT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1924F8-EBF1-4CE3-BBCD-1AB67326832F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0012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71411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Risk-hybrid chuyển refinement từ full-pass sang top-K risk-aware refinement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60FE39-6CA5-4E18-B2A9-D915F30920C5}"/>
              </a:ext>
            </a:extLst>
          </p:cNvPr>
          <p:cNvSpPr>
            <a:spLocks noGrp="1"/>
          </p:cNvSpPr>
          <p:nvPr/>
        </p:nvSpPr>
        <p:spPr>
          <a:xfrm>
            <a:off x="742950" y="1866900"/>
            <a:ext cx="1619250" cy="876300"/>
          </a:xfrm>
          <a:prstGeom prst="rect">
            <a:avLst/>
          </a:prstGeom>
          <a:solidFill>
            <a:srgbClr val="1E4F73"/>
          </a:solidFill>
          <a:ln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AB4420-4F66-4305-8229-7E2236E54810}"/>
              </a:ext>
            </a:extLst>
          </p:cNvPr>
          <p:cNvSpPr>
            <a:spLocks noGrp="1"/>
          </p:cNvSpPr>
          <p:nvPr/>
        </p:nvSpPr>
        <p:spPr>
          <a:xfrm>
            <a:off x="895350" y="2038350"/>
            <a:ext cx="13144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1. DUSt3R coarse pass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861223-E7AB-4AA7-BB7E-9B6E25D65281}"/>
              </a:ext>
            </a:extLst>
          </p:cNvPr>
          <p:cNvSpPr>
            <a:spLocks noGrp="1"/>
          </p:cNvSpPr>
          <p:nvPr/>
        </p:nvSpPr>
        <p:spPr>
          <a:xfrm>
            <a:off x="2476500" y="2133600"/>
            <a:ext cx="4572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E4F7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E4F7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C52134-5AC1-48BE-95E5-94B0901CC76E}"/>
              </a:ext>
            </a:extLst>
          </p:cNvPr>
          <p:cNvSpPr>
            <a:spLocks noGrp="1"/>
          </p:cNvSpPr>
          <p:nvPr/>
        </p:nvSpPr>
        <p:spPr>
          <a:xfrm>
            <a:off x="2971800" y="1866900"/>
            <a:ext cx="2000250" cy="876300"/>
          </a:xfrm>
          <a:prstGeom prst="rect">
            <a:avLst/>
          </a:prstGeom>
          <a:solidFill>
            <a:srgbClr val="A61E22"/>
          </a:solidFill>
          <a:ln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59E95A-76B0-4244-9D50-5CFDB546487E}"/>
              </a:ext>
            </a:extLst>
          </p:cNvPr>
          <p:cNvSpPr>
            <a:spLocks noGrp="1"/>
          </p:cNvSpPr>
          <p:nvPr/>
        </p:nvSpPr>
        <p:spPr>
          <a:xfrm>
            <a:off x="3124200" y="2038350"/>
            <a:ext cx="16954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2. Tính overlap, texture, depth prior, viewpoint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E6580F-8984-4800-B0D6-8FE6FA5BB7C9}"/>
              </a:ext>
            </a:extLst>
          </p:cNvPr>
          <p:cNvSpPr>
            <a:spLocks noGrp="1"/>
          </p:cNvSpPr>
          <p:nvPr/>
        </p:nvSpPr>
        <p:spPr>
          <a:xfrm>
            <a:off x="5067300" y="2133600"/>
            <a:ext cx="4572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A61E2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A61E2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900378-9B0C-4389-B3A3-C6C8662A850E}"/>
              </a:ext>
            </a:extLst>
          </p:cNvPr>
          <p:cNvSpPr>
            <a:spLocks noGrp="1"/>
          </p:cNvSpPr>
          <p:nvPr/>
        </p:nvSpPr>
        <p:spPr>
          <a:xfrm>
            <a:off x="5581650" y="1866900"/>
            <a:ext cx="1562100" cy="876300"/>
          </a:xfrm>
          <a:prstGeom prst="rect">
            <a:avLst/>
          </a:prstGeom>
          <a:solidFill>
            <a:srgbClr val="C28A2C"/>
          </a:solidFill>
          <a:ln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08FC87-AAE5-4721-9DE1-27ADB4BAB654}"/>
              </a:ext>
            </a:extLst>
          </p:cNvPr>
          <p:cNvSpPr>
            <a:spLocks noGrp="1"/>
          </p:cNvSpPr>
          <p:nvPr/>
        </p:nvSpPr>
        <p:spPr>
          <a:xfrm>
            <a:off x="5734050" y="2038350"/>
            <a:ext cx="1257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3. Chấm risk score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AC027B-3BF5-410B-A37E-0BAA3C5F372F}"/>
              </a:ext>
            </a:extLst>
          </p:cNvPr>
          <p:cNvSpPr>
            <a:spLocks noGrp="1"/>
          </p:cNvSpPr>
          <p:nvPr/>
        </p:nvSpPr>
        <p:spPr>
          <a:xfrm>
            <a:off x="7219950" y="2133600"/>
            <a:ext cx="4572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28A2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C28A2C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C7EF00-5DB9-4A48-B3F8-1CCCB39F2FD9}"/>
              </a:ext>
            </a:extLst>
          </p:cNvPr>
          <p:cNvSpPr>
            <a:spLocks noGrp="1"/>
          </p:cNvSpPr>
          <p:nvPr/>
        </p:nvSpPr>
        <p:spPr>
          <a:xfrm>
            <a:off x="7734300" y="1866900"/>
            <a:ext cx="1524000" cy="876300"/>
          </a:xfrm>
          <a:prstGeom prst="rect">
            <a:avLst/>
          </a:prstGeom>
          <a:solidFill>
            <a:srgbClr val="2E7D5B"/>
          </a:solidFill>
          <a:ln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498BD44-CE20-4AD6-ADEA-29C9F60CBE23}"/>
              </a:ext>
            </a:extLst>
          </p:cNvPr>
          <p:cNvSpPr>
            <a:spLocks noGrp="1"/>
          </p:cNvSpPr>
          <p:nvPr/>
        </p:nvSpPr>
        <p:spPr>
          <a:xfrm>
            <a:off x="7886700" y="2038350"/>
            <a:ext cx="12192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4. Chọn top-K frame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B5F39E-3423-49F0-B0D0-39FE819185E8}"/>
              </a:ext>
            </a:extLst>
          </p:cNvPr>
          <p:cNvSpPr>
            <a:spLocks noGrp="1"/>
          </p:cNvSpPr>
          <p:nvPr/>
        </p:nvSpPr>
        <p:spPr>
          <a:xfrm>
            <a:off x="9334500" y="2133600"/>
            <a:ext cx="4572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D28E5F-9A55-4276-8783-EAE0DE881FFB}"/>
              </a:ext>
            </a:extLst>
          </p:cNvPr>
          <p:cNvSpPr>
            <a:spLocks noGrp="1"/>
          </p:cNvSpPr>
          <p:nvPr/>
        </p:nvSpPr>
        <p:spPr>
          <a:xfrm>
            <a:off x="9906000" y="1866900"/>
            <a:ext cx="1562100" cy="876300"/>
          </a:xfrm>
          <a:prstGeom prst="rect">
            <a:avLst/>
          </a:prstGeom>
          <a:solidFill>
            <a:srgbClr val="1E4F73"/>
          </a:solidFill>
          <a:ln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771B70A-A694-4B50-B924-896F5AEFE920}"/>
              </a:ext>
            </a:extLst>
          </p:cNvPr>
          <p:cNvSpPr>
            <a:spLocks noGrp="1"/>
          </p:cNvSpPr>
          <p:nvPr/>
        </p:nvSpPr>
        <p:spPr>
          <a:xfrm>
            <a:off x="10058400" y="2038350"/>
            <a:ext cx="1257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5. MASt3R refine + merge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C0B83B-FC26-41CB-A267-4BB178757927}"/>
              </a:ext>
            </a:extLst>
          </p:cNvPr>
          <p:cNvSpPr>
            <a:spLocks noGrp="1"/>
          </p:cNvSpPr>
          <p:nvPr/>
        </p:nvSpPr>
        <p:spPr>
          <a:xfrm>
            <a:off x="742950" y="3238500"/>
            <a:ext cx="4000500" cy="2343150"/>
          </a:xfrm>
          <a:prstGeom prst="rect">
            <a:avLst/>
          </a:prstGeom>
          <a:solidFill>
            <a:srgbClr val="FFFDFC"/>
          </a:solidFill>
          <a:ln w="9525">
            <a:solidFill>
              <a:srgbClr val="DCCFC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B1FABDF-452E-427B-8DF7-B31A17913B79}"/>
              </a:ext>
            </a:extLst>
          </p:cNvPr>
          <p:cNvSpPr>
            <a:spLocks noGrp="1"/>
          </p:cNvSpPr>
          <p:nvPr/>
        </p:nvSpPr>
        <p:spPr>
          <a:xfrm>
            <a:off x="952500" y="3429000"/>
            <a:ext cx="1562100" cy="266700"/>
          </a:xfrm>
          <a:prstGeom prst="rect">
            <a:avLst/>
          </a:prstGeom>
          <a:solidFill>
            <a:srgbClr val="EFD9D6"/>
          </a:solidFill>
          <a:ln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579D657-00C3-474A-8C1D-7764B683DBB6}"/>
              </a:ext>
            </a:extLst>
          </p:cNvPr>
          <p:cNvSpPr>
            <a:spLocks noGrp="1"/>
          </p:cNvSpPr>
          <p:nvPr/>
        </p:nvSpPr>
        <p:spPr>
          <a:xfrm>
            <a:off x="952500" y="3476625"/>
            <a:ext cx="1562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A61E2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1E22"/>
                </a:solidFill>
                <a:latin typeface="Aptos"/>
                <a:ea typeface="Aptos"/>
                <a:cs typeface="Aptos"/>
              </a:rPr>
              <a:t>Risk score hiện tại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C0E769F-DD55-4F62-934F-5DD2075BE322}"/>
              </a:ext>
            </a:extLst>
          </p:cNvPr>
          <p:cNvSpPr>
            <a:spLocks noGrp="1"/>
          </p:cNvSpPr>
          <p:nvPr/>
        </p:nvSpPr>
        <p:spPr>
          <a:xfrm>
            <a:off x="952500" y="3943350"/>
            <a:ext cx="3429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71411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Rᵢ = 0.35 Oᵢ + 0.25 Tᵢ + 0.20 Dᵢ + 0.20 Vᵢ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54A5C99-70B0-429E-8780-BF77F9857F3C}"/>
              </a:ext>
            </a:extLst>
          </p:cNvPr>
          <p:cNvSpPr>
            <a:spLocks noGrp="1"/>
          </p:cNvSpPr>
          <p:nvPr/>
        </p:nvSpPr>
        <p:spPr>
          <a:xfrm>
            <a:off x="952500" y="4533900"/>
            <a:ext cx="34290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1411"/>
                </a:solidFill>
                <a:latin typeface="Aptos"/>
                <a:ea typeface="Aptos"/>
                <a:cs typeface="Aptos"/>
              </a:rPr>
              <a:t>Oᵢ: overlap bất lợi</a:t>
            </a:r>
          </a:p>
          <a:p>
            <a:pPr algn="l">
              <a:defRPr sz="1275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1411"/>
                </a:solidFill>
                <a:latin typeface="Aptos"/>
                <a:ea typeface="Aptos"/>
                <a:cs typeface="Aptos"/>
              </a:rPr>
              <a:t>Tᵢ: vùng ảnh nghèo texture</a:t>
            </a:r>
          </a:p>
          <a:p>
            <a:pPr algn="l">
              <a:defRPr sz="1275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1411"/>
                </a:solidFill>
                <a:latin typeface="Aptos"/>
                <a:ea typeface="Aptos"/>
                <a:cs typeface="Aptos"/>
              </a:rPr>
              <a:t>Dᵢ: depth prior phân tán</a:t>
            </a:r>
          </a:p>
          <a:p>
            <a:pPr algn="l">
              <a:defRPr sz="1275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1411"/>
                </a:solidFill>
                <a:latin typeface="Aptos"/>
                <a:ea typeface="Aptos"/>
                <a:cs typeface="Aptos"/>
              </a:rPr>
              <a:t>Vᵢ: viewpoint bất lợi trong chuỗi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9AF1C65-43C3-4E13-9432-D046F5D38C49}"/>
              </a:ext>
            </a:extLst>
          </p:cNvPr>
          <p:cNvSpPr>
            <a:spLocks noGrp="1"/>
          </p:cNvSpPr>
          <p:nvPr/>
        </p:nvSpPr>
        <p:spPr>
          <a:xfrm>
            <a:off x="5124450" y="3238500"/>
            <a:ext cx="6343650" cy="2343150"/>
          </a:xfrm>
          <a:prstGeom prst="rect">
            <a:avLst/>
          </a:prstGeom>
          <a:solidFill>
            <a:srgbClr val="FFFDFC"/>
          </a:solidFill>
          <a:ln w="9525">
            <a:solidFill>
              <a:srgbClr val="DCCFC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4CF7BCB-184F-4B7B-BEA8-9980151AADA7}"/>
              </a:ext>
            </a:extLst>
          </p:cNvPr>
          <p:cNvSpPr>
            <a:spLocks noGrp="1"/>
          </p:cNvSpPr>
          <p:nvPr/>
        </p:nvSpPr>
        <p:spPr>
          <a:xfrm>
            <a:off x="5334000" y="3429000"/>
            <a:ext cx="1809750" cy="266700"/>
          </a:xfrm>
          <a:prstGeom prst="rect">
            <a:avLst/>
          </a:prstGeom>
          <a:solidFill>
            <a:srgbClr val="DCE8F2"/>
          </a:solidFill>
          <a:ln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05EDA64-A9C1-4CE7-B132-F503F0C67426}"/>
              </a:ext>
            </a:extLst>
          </p:cNvPr>
          <p:cNvSpPr>
            <a:spLocks noGrp="1"/>
          </p:cNvSpPr>
          <p:nvPr/>
        </p:nvSpPr>
        <p:spPr>
          <a:xfrm>
            <a:off x="5334000" y="3476625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E4F7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4F73"/>
                </a:solidFill>
                <a:latin typeface="Aptos"/>
                <a:ea typeface="Aptos"/>
                <a:cs typeface="Aptos"/>
              </a:rPr>
              <a:t>Ý nghĩa kỹ thuật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D625027-C477-4379-80EB-E68D1B24968F}"/>
              </a:ext>
            </a:extLst>
          </p:cNvPr>
          <p:cNvSpPr>
            <a:spLocks noGrp="1"/>
          </p:cNvSpPr>
          <p:nvPr/>
        </p:nvSpPr>
        <p:spPr>
          <a:xfrm>
            <a:off x="5334000" y="3943350"/>
            <a:ext cx="5905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1650" b="0" dirty="0">
                <a:solidFill>
                  <a:srgbClr val="171411"/>
                </a:solidFill>
                <a:latin typeface="Aptos"/>
                <a:ea typeface="Aptos"/>
                <a:cs typeface="Aptos"/>
              </a:rPr>
              <a:t>Novelty </a:t>
            </a:r>
            <a:r>
              <a:rPr sz="1650" b="0" dirty="0" err="1">
                <a:solidFill>
                  <a:srgbClr val="171411"/>
                </a:solidFill>
                <a:latin typeface="Aptos"/>
                <a:ea typeface="Aptos"/>
                <a:cs typeface="Aptos"/>
              </a:rPr>
              <a:t>của</a:t>
            </a:r>
            <a:r>
              <a:rPr sz="1650" b="0" dirty="0">
                <a:solidFill>
                  <a:srgbClr val="171411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1650" b="0" dirty="0" err="1">
                <a:solidFill>
                  <a:srgbClr val="171411"/>
                </a:solidFill>
                <a:latin typeface="Aptos"/>
                <a:ea typeface="Aptos"/>
                <a:cs typeface="Aptos"/>
              </a:rPr>
              <a:t>dự</a:t>
            </a:r>
            <a:r>
              <a:rPr sz="1650" b="0" dirty="0">
                <a:solidFill>
                  <a:srgbClr val="171411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171411"/>
                </a:solidFill>
                <a:latin typeface="Aptos"/>
                <a:ea typeface="Aptos"/>
                <a:cs typeface="Aptos"/>
              </a:rPr>
              <a:t>án</a:t>
            </a:r>
            <a:r>
              <a:rPr sz="1650" b="0" dirty="0">
                <a:solidFill>
                  <a:srgbClr val="171411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171411"/>
                </a:solidFill>
                <a:latin typeface="Aptos"/>
                <a:ea typeface="Aptos"/>
                <a:cs typeface="Aptos"/>
              </a:rPr>
              <a:t>không</a:t>
            </a:r>
            <a:r>
              <a:rPr sz="1650" b="0" dirty="0">
                <a:solidFill>
                  <a:srgbClr val="171411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171411"/>
                </a:solidFill>
                <a:latin typeface="Aptos"/>
                <a:ea typeface="Aptos"/>
                <a:cs typeface="Aptos"/>
              </a:rPr>
              <a:t>nằm</a:t>
            </a:r>
            <a:r>
              <a:rPr sz="1650" b="0" dirty="0">
                <a:solidFill>
                  <a:srgbClr val="171411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171411"/>
                </a:solidFill>
                <a:latin typeface="Aptos"/>
                <a:ea typeface="Aptos"/>
                <a:cs typeface="Aptos"/>
              </a:rPr>
              <a:t>ở</a:t>
            </a:r>
            <a:r>
              <a:rPr sz="1650" b="0" dirty="0">
                <a:solidFill>
                  <a:srgbClr val="171411"/>
                </a:solidFill>
                <a:latin typeface="Aptos"/>
                <a:ea typeface="Aptos"/>
                <a:cs typeface="Aptos"/>
              </a:rPr>
              <a:t> backbone </a:t>
            </a:r>
            <a:r>
              <a:rPr sz="1650" b="0" dirty="0" err="1">
                <a:solidFill>
                  <a:srgbClr val="171411"/>
                </a:solidFill>
                <a:latin typeface="Aptos"/>
                <a:ea typeface="Aptos"/>
                <a:cs typeface="Aptos"/>
              </a:rPr>
              <a:t>mới</a:t>
            </a:r>
            <a:r>
              <a:rPr sz="1650" b="0" dirty="0">
                <a:solidFill>
                  <a:srgbClr val="171411"/>
                </a:solidFill>
                <a:latin typeface="Aptos"/>
                <a:ea typeface="Aptos"/>
                <a:cs typeface="Aptos"/>
              </a:rPr>
              <a:t>, </a:t>
            </a:r>
            <a:r>
              <a:rPr sz="1650" b="0" dirty="0" err="1">
                <a:solidFill>
                  <a:srgbClr val="171411"/>
                </a:solidFill>
                <a:latin typeface="Aptos"/>
                <a:ea typeface="Aptos"/>
                <a:cs typeface="Aptos"/>
              </a:rPr>
              <a:t>mà</a:t>
            </a:r>
            <a:r>
              <a:rPr sz="1650" b="0" dirty="0">
                <a:solidFill>
                  <a:srgbClr val="171411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171411"/>
                </a:solidFill>
                <a:latin typeface="Aptos"/>
                <a:ea typeface="Aptos"/>
                <a:cs typeface="Aptos"/>
              </a:rPr>
              <a:t>ở</a:t>
            </a:r>
            <a:r>
              <a:rPr sz="1650" b="0" dirty="0">
                <a:solidFill>
                  <a:srgbClr val="171411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171411"/>
                </a:solidFill>
                <a:latin typeface="Aptos"/>
                <a:ea typeface="Aptos"/>
                <a:cs typeface="Aptos"/>
              </a:rPr>
              <a:t>cách</a:t>
            </a:r>
            <a:r>
              <a:rPr sz="1650" b="0" dirty="0">
                <a:solidFill>
                  <a:srgbClr val="171411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171411"/>
                </a:solidFill>
                <a:latin typeface="Aptos"/>
                <a:ea typeface="Aptos"/>
                <a:cs typeface="Aptos"/>
              </a:rPr>
              <a:t>biến</a:t>
            </a:r>
            <a:r>
              <a:rPr sz="1650" b="0" dirty="0">
                <a:solidFill>
                  <a:srgbClr val="171411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171411"/>
                </a:solidFill>
                <a:latin typeface="Aptos"/>
                <a:ea typeface="Aptos"/>
                <a:cs typeface="Aptos"/>
              </a:rPr>
              <a:t>quyết</a:t>
            </a:r>
            <a:r>
              <a:rPr sz="1650" b="0" dirty="0">
                <a:solidFill>
                  <a:srgbClr val="171411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171411"/>
                </a:solidFill>
                <a:latin typeface="Aptos"/>
                <a:ea typeface="Aptos"/>
                <a:cs typeface="Aptos"/>
              </a:rPr>
              <a:t>định</a:t>
            </a:r>
            <a:r>
              <a:rPr sz="1650" b="0" dirty="0">
                <a:solidFill>
                  <a:srgbClr val="171411"/>
                </a:solidFill>
                <a:latin typeface="Aptos"/>
                <a:ea typeface="Aptos"/>
                <a:cs typeface="Aptos"/>
              </a:rPr>
              <a:t> “refine </a:t>
            </a:r>
            <a:r>
              <a:rPr sz="1650" b="0" dirty="0" err="1">
                <a:solidFill>
                  <a:srgbClr val="171411"/>
                </a:solidFill>
                <a:latin typeface="Aptos"/>
                <a:ea typeface="Aptos"/>
                <a:cs typeface="Aptos"/>
              </a:rPr>
              <a:t>ở</a:t>
            </a:r>
            <a:r>
              <a:rPr sz="1650" b="0" dirty="0">
                <a:solidFill>
                  <a:srgbClr val="171411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171411"/>
                </a:solidFill>
                <a:latin typeface="Aptos"/>
                <a:ea typeface="Aptos"/>
                <a:cs typeface="Aptos"/>
              </a:rPr>
              <a:t>đâu</a:t>
            </a:r>
            <a:r>
              <a:rPr sz="1650" b="0" dirty="0">
                <a:solidFill>
                  <a:srgbClr val="171411"/>
                </a:solidFill>
                <a:latin typeface="Aptos"/>
                <a:ea typeface="Aptos"/>
                <a:cs typeface="Aptos"/>
              </a:rPr>
              <a:t>” </a:t>
            </a:r>
            <a:r>
              <a:rPr sz="1650" b="0" dirty="0" err="1">
                <a:solidFill>
                  <a:srgbClr val="171411"/>
                </a:solidFill>
                <a:latin typeface="Aptos"/>
                <a:ea typeface="Aptos"/>
                <a:cs typeface="Aptos"/>
              </a:rPr>
              <a:t>thành</a:t>
            </a:r>
            <a:r>
              <a:rPr sz="1650" b="0" dirty="0">
                <a:solidFill>
                  <a:srgbClr val="171411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171411"/>
                </a:solidFill>
                <a:latin typeface="Aptos"/>
                <a:ea typeface="Aptos"/>
                <a:cs typeface="Aptos"/>
              </a:rPr>
              <a:t>trọng</a:t>
            </a:r>
            <a:r>
              <a:rPr sz="1650" b="0" dirty="0">
                <a:solidFill>
                  <a:srgbClr val="171411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171411"/>
                </a:solidFill>
                <a:latin typeface="Aptos"/>
                <a:ea typeface="Aptos"/>
                <a:cs typeface="Aptos"/>
              </a:rPr>
              <a:t>tâm</a:t>
            </a:r>
            <a:r>
              <a:rPr sz="1650" b="0" dirty="0">
                <a:solidFill>
                  <a:srgbClr val="171411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171411"/>
                </a:solidFill>
                <a:latin typeface="Aptos"/>
                <a:ea typeface="Aptos"/>
                <a:cs typeface="Aptos"/>
              </a:rPr>
              <a:t>tối</a:t>
            </a:r>
            <a:r>
              <a:rPr sz="1650" b="0" dirty="0">
                <a:solidFill>
                  <a:srgbClr val="171411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171411"/>
                </a:solidFill>
                <a:latin typeface="Aptos"/>
                <a:ea typeface="Aptos"/>
                <a:cs typeface="Aptos"/>
              </a:rPr>
              <a:t>ưu</a:t>
            </a:r>
            <a:r>
              <a:rPr sz="1650" b="0" dirty="0">
                <a:solidFill>
                  <a:srgbClr val="171411"/>
                </a:solidFill>
                <a:latin typeface="Aptos"/>
                <a:ea typeface="Aptos"/>
                <a:cs typeface="Aptos"/>
              </a:rPr>
              <a:t> compute.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D086D6E-DBAF-4CF7-AF5A-8C92FD249190}"/>
              </a:ext>
            </a:extLst>
          </p:cNvPr>
          <p:cNvSpPr>
            <a:spLocks noGrp="1"/>
          </p:cNvSpPr>
          <p:nvPr/>
        </p:nvSpPr>
        <p:spPr>
          <a:xfrm>
            <a:off x="5334000" y="4591050"/>
            <a:ext cx="5905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B625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B625B"/>
                </a:solidFill>
                <a:latin typeface="Aptos"/>
                <a:ea typeface="Aptos"/>
                <a:cs typeface="Aptos"/>
              </a:rPr>
              <a:t>Với cách nhìn này, GEO đóng vai trò như một lớp điều phối compute cho learned 3D reconstruction: coarse toàn cục, refine có chọn lọc, merge thành đầu ra cuối.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A674088-A171-4B5C-8E77-8260E75CAF6F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10972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625B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6B625B"/>
                </a:solidFill>
                <a:latin typeface="Aptos"/>
                <a:ea typeface="Aptos"/>
                <a:cs typeface="Aptos"/>
              </a:rPr>
              <a:t>Trong code </a:t>
            </a:r>
            <a:r>
              <a:rPr sz="900" b="0" dirty="0" err="1">
                <a:solidFill>
                  <a:srgbClr val="6B625B"/>
                </a:solidFill>
                <a:latin typeface="Aptos"/>
                <a:ea typeface="Aptos"/>
                <a:cs typeface="Aptos"/>
              </a:rPr>
              <a:t>hiện</a:t>
            </a:r>
            <a:r>
              <a:rPr sz="900" b="0" dirty="0">
                <a:solidFill>
                  <a:srgbClr val="6B625B"/>
                </a:solidFill>
                <a:latin typeface="Aptos"/>
                <a:ea typeface="Aptos"/>
                <a:cs typeface="Aptos"/>
              </a:rPr>
              <a:t> </a:t>
            </a:r>
            <a:r>
              <a:rPr sz="900" b="0" dirty="0" err="1">
                <a:solidFill>
                  <a:srgbClr val="6B625B"/>
                </a:solidFill>
                <a:latin typeface="Aptos"/>
                <a:ea typeface="Aptos"/>
                <a:cs typeface="Aptos"/>
              </a:rPr>
              <a:t>tại</a:t>
            </a:r>
            <a:r>
              <a:rPr sz="900" b="0" dirty="0">
                <a:solidFill>
                  <a:srgbClr val="6B625B"/>
                </a:solidFill>
                <a:latin typeface="Aptos"/>
                <a:ea typeface="Aptos"/>
                <a:cs typeface="Aptos"/>
              </a:rPr>
              <a:t>, top-K </a:t>
            </a:r>
            <a:r>
              <a:rPr sz="900" b="0" dirty="0" err="1">
                <a:solidFill>
                  <a:srgbClr val="6B625B"/>
                </a:solidFill>
                <a:latin typeface="Aptos"/>
                <a:ea typeface="Aptos"/>
                <a:cs typeface="Aptos"/>
              </a:rPr>
              <a:t>được</a:t>
            </a:r>
            <a:r>
              <a:rPr sz="900" b="0" dirty="0">
                <a:solidFill>
                  <a:srgbClr val="6B625B"/>
                </a:solidFill>
                <a:latin typeface="Aptos"/>
                <a:ea typeface="Aptos"/>
                <a:cs typeface="Aptos"/>
              </a:rPr>
              <a:t> </a:t>
            </a:r>
            <a:r>
              <a:rPr sz="900" b="0" dirty="0" err="1">
                <a:solidFill>
                  <a:srgbClr val="6B625B"/>
                </a:solidFill>
                <a:latin typeface="Aptos"/>
                <a:ea typeface="Aptos"/>
                <a:cs typeface="Aptos"/>
              </a:rPr>
              <a:t>chọn</a:t>
            </a:r>
            <a:r>
              <a:rPr sz="900" b="0" dirty="0">
                <a:solidFill>
                  <a:srgbClr val="6B625B"/>
                </a:solidFill>
                <a:latin typeface="Aptos"/>
                <a:ea typeface="Aptos"/>
                <a:cs typeface="Aptos"/>
              </a:rPr>
              <a:t> </a:t>
            </a:r>
            <a:r>
              <a:rPr sz="900" b="0" dirty="0" err="1">
                <a:solidFill>
                  <a:srgbClr val="6B625B"/>
                </a:solidFill>
                <a:latin typeface="Aptos"/>
                <a:ea typeface="Aptos"/>
                <a:cs typeface="Aptos"/>
              </a:rPr>
              <a:t>theo</a:t>
            </a:r>
            <a:r>
              <a:rPr sz="900" b="0" dirty="0">
                <a:solidFill>
                  <a:srgbClr val="6B625B"/>
                </a:solidFill>
                <a:latin typeface="Aptos"/>
                <a:ea typeface="Aptos"/>
                <a:cs typeface="Aptos"/>
              </a:rPr>
              <a:t> risk score </a:t>
            </a:r>
            <a:r>
              <a:rPr sz="900" b="0" dirty="0" err="1">
                <a:solidFill>
                  <a:srgbClr val="6B625B"/>
                </a:solidFill>
                <a:latin typeface="Aptos"/>
                <a:ea typeface="Aptos"/>
                <a:cs typeface="Aptos"/>
              </a:rPr>
              <a:t>giảm</a:t>
            </a:r>
            <a:r>
              <a:rPr sz="900" b="0" dirty="0">
                <a:solidFill>
                  <a:srgbClr val="6B625B"/>
                </a:solidFill>
                <a:latin typeface="Aptos"/>
                <a:ea typeface="Aptos"/>
                <a:cs typeface="Aptos"/>
              </a:rPr>
              <a:t> </a:t>
            </a:r>
            <a:r>
              <a:rPr sz="900" b="0" dirty="0" err="1">
                <a:solidFill>
                  <a:srgbClr val="6B625B"/>
                </a:solidFill>
                <a:latin typeface="Aptos"/>
                <a:ea typeface="Aptos"/>
                <a:cs typeface="Aptos"/>
              </a:rPr>
              <a:t>dần</a:t>
            </a:r>
            <a:r>
              <a:rPr sz="900" b="0" dirty="0">
                <a:solidFill>
                  <a:srgbClr val="6B625B"/>
                </a:solidFill>
                <a:latin typeface="Aptos"/>
                <a:ea typeface="Aptos"/>
                <a:cs typeface="Aptos"/>
              </a:rPr>
              <a:t> </a:t>
            </a:r>
            <a:r>
              <a:rPr sz="900" b="0" dirty="0" err="1">
                <a:solidFill>
                  <a:srgbClr val="6B625B"/>
                </a:solidFill>
                <a:latin typeface="Aptos"/>
                <a:ea typeface="Aptos"/>
                <a:cs typeface="Aptos"/>
              </a:rPr>
              <a:t>rồi</a:t>
            </a:r>
            <a:r>
              <a:rPr sz="900" b="0" dirty="0">
                <a:solidFill>
                  <a:srgbClr val="6B625B"/>
                </a:solidFill>
                <a:latin typeface="Aptos"/>
                <a:ea typeface="Aptos"/>
                <a:cs typeface="Aptos"/>
              </a:rPr>
              <a:t> refine </a:t>
            </a:r>
            <a:r>
              <a:rPr sz="900" b="0" dirty="0" err="1">
                <a:solidFill>
                  <a:srgbClr val="6B625B"/>
                </a:solidFill>
                <a:latin typeface="Aptos"/>
                <a:ea typeface="Aptos"/>
                <a:cs typeface="Aptos"/>
              </a:rPr>
              <a:t>bằng</a:t>
            </a:r>
            <a:r>
              <a:rPr sz="900" b="0" dirty="0">
                <a:solidFill>
                  <a:srgbClr val="6B625B"/>
                </a:solidFill>
                <a:latin typeface="Aptos"/>
                <a:ea typeface="Aptos"/>
                <a:cs typeface="Aptos"/>
              </a:rPr>
              <a:t> MASt3R </a:t>
            </a:r>
            <a:r>
              <a:rPr sz="900" b="0" dirty="0" err="1">
                <a:solidFill>
                  <a:srgbClr val="6B625B"/>
                </a:solidFill>
                <a:latin typeface="Aptos"/>
                <a:ea typeface="Aptos"/>
                <a:cs typeface="Aptos"/>
              </a:rPr>
              <a:t>trước</a:t>
            </a:r>
            <a:r>
              <a:rPr sz="900" b="0" dirty="0">
                <a:solidFill>
                  <a:srgbClr val="6B625B"/>
                </a:solidFill>
                <a:latin typeface="Aptos"/>
                <a:ea typeface="Aptos"/>
                <a:cs typeface="Aptos"/>
              </a:rPr>
              <a:t> </a:t>
            </a:r>
            <a:r>
              <a:rPr sz="900" b="0" dirty="0" err="1">
                <a:solidFill>
                  <a:srgbClr val="6B625B"/>
                </a:solidFill>
                <a:latin typeface="Aptos"/>
                <a:ea typeface="Aptos"/>
                <a:cs typeface="Aptos"/>
              </a:rPr>
              <a:t>khi</a:t>
            </a:r>
            <a:r>
              <a:rPr sz="900" b="0" dirty="0">
                <a:solidFill>
                  <a:srgbClr val="6B625B"/>
                </a:solidFill>
                <a:latin typeface="Aptos"/>
                <a:ea typeface="Aptos"/>
                <a:cs typeface="Aptos"/>
              </a:rPr>
              <a:t> merge </a:t>
            </a:r>
            <a:r>
              <a:rPr sz="900" b="0" dirty="0" err="1">
                <a:solidFill>
                  <a:srgbClr val="6B625B"/>
                </a:solidFill>
                <a:latin typeface="Aptos"/>
                <a:ea typeface="Aptos"/>
                <a:cs typeface="Aptos"/>
              </a:rPr>
              <a:t>vào</a:t>
            </a:r>
            <a:r>
              <a:rPr sz="900" b="0" dirty="0">
                <a:solidFill>
                  <a:srgbClr val="6B625B"/>
                </a:solidFill>
                <a:latin typeface="Aptos"/>
                <a:ea typeface="Aptos"/>
                <a:cs typeface="Aptos"/>
              </a:rPr>
              <a:t> coarse output.</a:t>
            </a:r>
          </a:p>
        </p:txBody>
      </p:sp>
    </p:spTree>
    <p:extLst>
      <p:ext uri="{BB962C8B-B14F-4D97-AF65-F5344CB8AC3E}">
        <p14:creationId xmlns:p14="http://schemas.microsoft.com/office/powerpoint/2010/main" val="1604598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931E7241-A751-4503-B5D3-EB9FB66CBC7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8"/>
          </a:solidFill>
          <a:ln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4B398C-5449-4B88-A441-0FF3F44CE65C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A61E2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61E22"/>
                </a:solidFill>
                <a:latin typeface="Aptos"/>
                <a:ea typeface="Aptos"/>
                <a:cs typeface="Aptos"/>
              </a:rPr>
              <a:t>HỆ THỐNG &amp; DỮ LIỆU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397927-77D2-4FE6-A92A-131687576345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2870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71411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GEO là framework benchmark end-to-end: chuẩn bị dữ liệu, chạy mô hình, so sánh baseline và xuất report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3A19C3-6DFF-4483-A67C-F5E10121D22D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4476750" cy="3619500"/>
          </a:xfrm>
          <a:prstGeom prst="rect">
            <a:avLst/>
          </a:prstGeom>
          <a:solidFill>
            <a:srgbClr val="FFFDFC"/>
          </a:solidFill>
          <a:ln w="9525">
            <a:solidFill>
              <a:srgbClr val="DCCFC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2EF34A-5699-4CEA-B2EA-831DC4EF9FCD}"/>
              </a:ext>
            </a:extLst>
          </p:cNvPr>
          <p:cNvSpPr>
            <a:spLocks noGrp="1"/>
          </p:cNvSpPr>
          <p:nvPr/>
        </p:nvSpPr>
        <p:spPr>
          <a:xfrm>
            <a:off x="819150" y="1866900"/>
            <a:ext cx="1600200" cy="266700"/>
          </a:xfrm>
          <a:prstGeom prst="rect">
            <a:avLst/>
          </a:prstGeom>
          <a:solidFill>
            <a:srgbClr val="DCE8F2"/>
          </a:solidFill>
          <a:ln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852B8D-7665-4A05-92E5-6F508F6D9DE4}"/>
              </a:ext>
            </a:extLst>
          </p:cNvPr>
          <p:cNvSpPr>
            <a:spLocks noGrp="1"/>
          </p:cNvSpPr>
          <p:nvPr/>
        </p:nvSpPr>
        <p:spPr>
          <a:xfrm>
            <a:off x="819150" y="1914525"/>
            <a:ext cx="1600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E4F7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4F73"/>
                </a:solidFill>
                <a:latin typeface="Aptos"/>
                <a:ea typeface="Aptos"/>
                <a:cs typeface="Aptos"/>
              </a:rPr>
              <a:t>Framework GEO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E8E41B-6578-4BF8-AA6E-6D2C89BEF6AC}"/>
              </a:ext>
            </a:extLst>
          </p:cNvPr>
          <p:cNvSpPr>
            <a:spLocks noGrp="1"/>
          </p:cNvSpPr>
          <p:nvPr/>
        </p:nvSpPr>
        <p:spPr>
          <a:xfrm>
            <a:off x="876300" y="2438400"/>
            <a:ext cx="76200" cy="76200"/>
          </a:xfrm>
          <a:prstGeom prst="rect">
            <a:avLst/>
          </a:prstGeom>
          <a:solidFill>
            <a:srgbClr val="1E4F73"/>
          </a:solidFill>
          <a:ln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DCA29B-4493-4B36-80DC-62206DE964B4}"/>
              </a:ext>
            </a:extLst>
          </p:cNvPr>
          <p:cNvSpPr>
            <a:spLocks noGrp="1"/>
          </p:cNvSpPr>
          <p:nvPr/>
        </p:nvSpPr>
        <p:spPr>
          <a:xfrm>
            <a:off x="1047750" y="2343150"/>
            <a:ext cx="36957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1411"/>
                </a:solidFill>
                <a:latin typeface="Aptos"/>
                <a:ea typeface="Aptos"/>
                <a:cs typeface="Aptos"/>
              </a:rPr>
              <a:t>dataset loader và script chuẩn bị dữ liệu cho Dronescapes, ODMData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969BEC-AEC1-4F25-A9EC-D5C6FD489E73}"/>
              </a:ext>
            </a:extLst>
          </p:cNvPr>
          <p:cNvSpPr>
            <a:spLocks noGrp="1"/>
          </p:cNvSpPr>
          <p:nvPr/>
        </p:nvSpPr>
        <p:spPr>
          <a:xfrm>
            <a:off x="876300" y="3086100"/>
            <a:ext cx="76200" cy="76200"/>
          </a:xfrm>
          <a:prstGeom prst="rect">
            <a:avLst/>
          </a:prstGeom>
          <a:solidFill>
            <a:srgbClr val="1E4F73"/>
          </a:solidFill>
          <a:ln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D08094-D901-407B-9C50-F08BD5740276}"/>
              </a:ext>
            </a:extLst>
          </p:cNvPr>
          <p:cNvSpPr>
            <a:spLocks noGrp="1"/>
          </p:cNvSpPr>
          <p:nvPr/>
        </p:nvSpPr>
        <p:spPr>
          <a:xfrm>
            <a:off x="1047750" y="2990850"/>
            <a:ext cx="36957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1411"/>
                </a:solidFill>
                <a:latin typeface="Aptos"/>
                <a:ea typeface="Aptos"/>
                <a:cs typeface="Aptos"/>
              </a:rPr>
              <a:t>runner cho DUSt3R, MASt3R và risk-hybrid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FA919E-4CCA-4771-B4E0-09144701DF87}"/>
              </a:ext>
            </a:extLst>
          </p:cNvPr>
          <p:cNvSpPr>
            <a:spLocks noGrp="1"/>
          </p:cNvSpPr>
          <p:nvPr/>
        </p:nvSpPr>
        <p:spPr>
          <a:xfrm>
            <a:off x="876300" y="3733800"/>
            <a:ext cx="76200" cy="76200"/>
          </a:xfrm>
          <a:prstGeom prst="rect">
            <a:avLst/>
          </a:prstGeom>
          <a:solidFill>
            <a:srgbClr val="1E4F73"/>
          </a:solidFill>
          <a:ln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E8DB86-AE96-44BB-BF9C-DC65280A4469}"/>
              </a:ext>
            </a:extLst>
          </p:cNvPr>
          <p:cNvSpPr>
            <a:spLocks noGrp="1"/>
          </p:cNvSpPr>
          <p:nvPr/>
        </p:nvSpPr>
        <p:spPr>
          <a:xfrm>
            <a:off x="1047750" y="3638550"/>
            <a:ext cx="36957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1411"/>
                </a:solidFill>
                <a:latin typeface="Aptos"/>
                <a:ea typeface="Aptos"/>
                <a:cs typeface="Aptos"/>
              </a:rPr>
              <a:t>benchmark summary, CSV, HTML report và figure định tính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EFE2A3-2D53-4257-9A1E-BCEE788A4476}"/>
              </a:ext>
            </a:extLst>
          </p:cNvPr>
          <p:cNvSpPr>
            <a:spLocks noGrp="1"/>
          </p:cNvSpPr>
          <p:nvPr/>
        </p:nvSpPr>
        <p:spPr>
          <a:xfrm>
            <a:off x="876300" y="4381500"/>
            <a:ext cx="76200" cy="76200"/>
          </a:xfrm>
          <a:prstGeom prst="rect">
            <a:avLst/>
          </a:prstGeom>
          <a:solidFill>
            <a:srgbClr val="1E4F73"/>
          </a:solidFill>
          <a:ln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13BB9D-8510-4F7A-BD0C-217E9FF4D8F1}"/>
              </a:ext>
            </a:extLst>
          </p:cNvPr>
          <p:cNvSpPr>
            <a:spLocks noGrp="1"/>
          </p:cNvSpPr>
          <p:nvPr/>
        </p:nvSpPr>
        <p:spPr>
          <a:xfrm>
            <a:off x="1047750" y="4286250"/>
            <a:ext cx="36957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1411"/>
                </a:solidFill>
                <a:latin typeface="Aptos"/>
                <a:ea typeface="Aptos"/>
                <a:cs typeface="Aptos"/>
              </a:rPr>
              <a:t>khả năng chuyển từ POC sang full benchmark trên máy mạnh hơn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A487DD5-58CE-4780-A7C6-36B637D58D95}"/>
              </a:ext>
            </a:extLst>
          </p:cNvPr>
          <p:cNvSpPr>
            <a:spLocks noGrp="1"/>
          </p:cNvSpPr>
          <p:nvPr/>
        </p:nvSpPr>
        <p:spPr>
          <a:xfrm>
            <a:off x="5391150" y="1676400"/>
            <a:ext cx="6191250" cy="3619500"/>
          </a:xfrm>
          <a:prstGeom prst="rect">
            <a:avLst/>
          </a:prstGeom>
          <a:solidFill>
            <a:srgbClr val="FFFDFC"/>
          </a:solidFill>
          <a:ln w="9525">
            <a:solidFill>
              <a:srgbClr val="DCCFC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D2B94F5-7506-4804-9243-AB388ED5D497}"/>
              </a:ext>
            </a:extLst>
          </p:cNvPr>
          <p:cNvSpPr>
            <a:spLocks noGrp="1"/>
          </p:cNvSpPr>
          <p:nvPr/>
        </p:nvSpPr>
        <p:spPr>
          <a:xfrm>
            <a:off x="5600700" y="1866900"/>
            <a:ext cx="1352550" cy="266700"/>
          </a:xfrm>
          <a:prstGeom prst="rect">
            <a:avLst/>
          </a:prstGeom>
          <a:solidFill>
            <a:srgbClr val="EFD9D6"/>
          </a:solidFill>
          <a:ln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D008A8E-4665-4195-8A5E-B0844EEF6BA6}"/>
              </a:ext>
            </a:extLst>
          </p:cNvPr>
          <p:cNvSpPr>
            <a:spLocks noGrp="1"/>
          </p:cNvSpPr>
          <p:nvPr/>
        </p:nvSpPr>
        <p:spPr>
          <a:xfrm>
            <a:off x="5600700" y="1914525"/>
            <a:ext cx="1352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A61E2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1E22"/>
                </a:solidFill>
                <a:latin typeface="Aptos"/>
                <a:ea typeface="Aptos"/>
                <a:cs typeface="Aptos"/>
              </a:rPr>
              <a:t>Dataset run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A14EF8-AC34-457C-A3F1-DCD337BCF6B6}"/>
              </a:ext>
            </a:extLst>
          </p:cNvPr>
          <p:cNvSpPr>
            <a:spLocks noGrp="1"/>
          </p:cNvSpPr>
          <p:nvPr/>
        </p:nvSpPr>
        <p:spPr>
          <a:xfrm>
            <a:off x="5638800" y="2343150"/>
            <a:ext cx="2667000" cy="1238250"/>
          </a:xfrm>
          <a:prstGeom prst="rect">
            <a:avLst/>
          </a:prstGeom>
          <a:solidFill>
            <a:srgbClr val="F7F1E8"/>
          </a:solidFill>
          <a:ln w="9525">
            <a:solidFill>
              <a:srgbClr val="DCCFC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2982DCE-AA37-4BD9-8B65-9BF46F85F9CA}"/>
              </a:ext>
            </a:extLst>
          </p:cNvPr>
          <p:cNvSpPr>
            <a:spLocks noGrp="1"/>
          </p:cNvSpPr>
          <p:nvPr/>
        </p:nvSpPr>
        <p:spPr>
          <a:xfrm>
            <a:off x="5829300" y="2533650"/>
            <a:ext cx="228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62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625B"/>
                </a:solidFill>
                <a:latin typeface="Aptos"/>
                <a:ea typeface="Aptos"/>
                <a:cs typeface="Aptos"/>
              </a:rPr>
              <a:t>Dronescapes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DD52210-54FC-42D7-9D6F-CBF30AA76C6F}"/>
              </a:ext>
            </a:extLst>
          </p:cNvPr>
          <p:cNvSpPr>
            <a:spLocks noGrp="1"/>
          </p:cNvSpPr>
          <p:nvPr/>
        </p:nvSpPr>
        <p:spPr>
          <a:xfrm>
            <a:off x="5829300" y="2762250"/>
            <a:ext cx="2286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1411"/>
                </a:solidFill>
                <a:latin typeface="Aptos"/>
                <a:ea typeface="Aptos"/>
                <a:cs typeface="Aptos"/>
              </a:rPr>
              <a:t>test_set_annotated_only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41381BD-3766-4E0F-993C-14FDDC77AA86}"/>
              </a:ext>
            </a:extLst>
          </p:cNvPr>
          <p:cNvSpPr>
            <a:spLocks noGrp="1"/>
          </p:cNvSpPr>
          <p:nvPr/>
        </p:nvSpPr>
        <p:spPr>
          <a:xfrm>
            <a:off x="5829300" y="3124200"/>
            <a:ext cx="2286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B625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625B"/>
                </a:solidFill>
                <a:latin typeface="Aptos"/>
                <a:ea typeface="Aptos"/>
                <a:cs typeface="Aptos"/>
              </a:rPr>
              <a:t>32 frame trong run báo cáo</a:t>
            </a:r>
          </a:p>
          <a:p>
            <a:pPr algn="l">
              <a:defRPr sz="1200" b="0">
                <a:solidFill>
                  <a:srgbClr val="6B625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625B"/>
                </a:solidFill>
                <a:latin typeface="Aptos"/>
                <a:ea typeface="Aptos"/>
                <a:cs typeface="Aptos"/>
              </a:rPr>
              <a:t>Có ground-truth depth để chấm trực tiếp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47E9E9E-D32E-4846-A11A-C2B7F91EACCA}"/>
              </a:ext>
            </a:extLst>
          </p:cNvPr>
          <p:cNvSpPr>
            <a:spLocks noGrp="1"/>
          </p:cNvSpPr>
          <p:nvPr/>
        </p:nvSpPr>
        <p:spPr>
          <a:xfrm>
            <a:off x="8515350" y="2343150"/>
            <a:ext cx="2667000" cy="1238250"/>
          </a:xfrm>
          <a:prstGeom prst="rect">
            <a:avLst/>
          </a:prstGeom>
          <a:solidFill>
            <a:srgbClr val="F7F1E8"/>
          </a:solidFill>
          <a:ln w="9525">
            <a:solidFill>
              <a:srgbClr val="DCCFC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A3C09EC-B316-472F-AC63-F3EA6136C65D}"/>
              </a:ext>
            </a:extLst>
          </p:cNvPr>
          <p:cNvSpPr>
            <a:spLocks noGrp="1"/>
          </p:cNvSpPr>
          <p:nvPr/>
        </p:nvSpPr>
        <p:spPr>
          <a:xfrm>
            <a:off x="8705850" y="2533650"/>
            <a:ext cx="228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62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625B"/>
                </a:solidFill>
                <a:latin typeface="Aptos"/>
                <a:ea typeface="Aptos"/>
                <a:cs typeface="Aptos"/>
              </a:rPr>
              <a:t>ODMData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78A0A85-5280-48AF-81B9-9D0080669CA4}"/>
              </a:ext>
            </a:extLst>
          </p:cNvPr>
          <p:cNvSpPr>
            <a:spLocks noGrp="1"/>
          </p:cNvSpPr>
          <p:nvPr/>
        </p:nvSpPr>
        <p:spPr>
          <a:xfrm>
            <a:off x="8705850" y="2762250"/>
            <a:ext cx="2286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1411"/>
                </a:solidFill>
                <a:latin typeface="Aptos"/>
                <a:ea typeface="Aptos"/>
                <a:cs typeface="Aptos"/>
              </a:rPr>
              <a:t>mygla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FDD5414-28C2-408F-A555-028EF0F94408}"/>
              </a:ext>
            </a:extLst>
          </p:cNvPr>
          <p:cNvSpPr>
            <a:spLocks noGrp="1"/>
          </p:cNvSpPr>
          <p:nvPr/>
        </p:nvSpPr>
        <p:spPr>
          <a:xfrm>
            <a:off x="8705850" y="3124200"/>
            <a:ext cx="2286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B625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625B"/>
                </a:solidFill>
                <a:latin typeface="Aptos"/>
                <a:ea typeface="Aptos"/>
                <a:cs typeface="Aptos"/>
              </a:rPr>
              <a:t>29 frame trong run báo cáo</a:t>
            </a:r>
          </a:p>
          <a:p>
            <a:pPr algn="l">
              <a:defRPr sz="1200" b="0">
                <a:solidFill>
                  <a:srgbClr val="6B625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625B"/>
                </a:solidFill>
                <a:latin typeface="Aptos"/>
                <a:ea typeface="Aptos"/>
                <a:cs typeface="Aptos"/>
              </a:rPr>
              <a:t>Block photogrammetry UAV thật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rcRect t="32486" b="32486"/>
          <a:stretch>
            <a:fillRect/>
          </a:stretch>
        </p:blipFill>
        <p:spPr>
          <a:xfrm>
            <a:off x="5638800" y="3848100"/>
            <a:ext cx="5543550" cy="120015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700584D2-1582-4178-AB20-13A302FBDA93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10972800" cy="685800"/>
          </a:xfrm>
          <a:prstGeom prst="rect">
            <a:avLst/>
          </a:prstGeom>
          <a:solidFill>
            <a:srgbClr val="FFFDFC"/>
          </a:solidFill>
          <a:ln w="9525">
            <a:solidFill>
              <a:srgbClr val="DCCFC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D62B648-F97E-439F-8307-B93A254F6235}"/>
              </a:ext>
            </a:extLst>
          </p:cNvPr>
          <p:cNvSpPr>
            <a:spLocks noGrp="1"/>
          </p:cNvSpPr>
          <p:nvPr/>
        </p:nvSpPr>
        <p:spPr>
          <a:xfrm>
            <a:off x="838200" y="5829300"/>
            <a:ext cx="10287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E4F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E4F73"/>
                </a:solidFill>
                <a:latin typeface="Aptos"/>
                <a:ea typeface="Aptos"/>
                <a:cs typeface="Aptos"/>
              </a:rPr>
              <a:t>GitHub dự án: github.com/duy12i1i7/GEO. Toàn bộ pipeline hiện đã đóng gói trong repo và có thể chạy ở chế độ POC hoặc full benchmark.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B1BEE84-7381-4D25-B74F-327CC3ABBD86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10972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625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625B"/>
                </a:solidFill>
                <a:latin typeface="Aptos"/>
                <a:ea typeface="Aptos"/>
                <a:cs typeface="Aptos"/>
              </a:rPr>
              <a:t>Ở phần trình bày miệng, slide này dùng để nối từ phương pháp sang thực nghiệm và khẳng định tính hiện thực hóa của đồ án.</a:t>
            </a:r>
          </a:p>
        </p:txBody>
      </p:sp>
    </p:spTree>
    <p:extLst>
      <p:ext uri="{BB962C8B-B14F-4D97-AF65-F5344CB8AC3E}">
        <p14:creationId xmlns:p14="http://schemas.microsoft.com/office/powerpoint/2010/main" val="1725725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9515AF50-098C-421B-9F06-6FAE872E46D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8"/>
          </a:solidFill>
          <a:ln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C8C71AC-4742-4E22-947A-314743DED8C5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A61E2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61E22"/>
                </a:solidFill>
                <a:latin typeface="Aptos"/>
                <a:ea typeface="Aptos"/>
                <a:cs typeface="Aptos"/>
              </a:rPr>
              <a:t>KẾT QUẢ ĐỊNH LƯỢNG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4A4E04-B927-478D-A3B5-B77A4E12DEC4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4775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71411"/>
                </a:solidFill>
                <a:latin typeface="Georgia"/>
                <a:ea typeface="Georgia"/>
                <a:cs typeface="Georgia"/>
              </a:defRPr>
            </a:pPr>
            <a:r>
              <a:rPr lang="en-US" sz="2250" b="1" dirty="0" err="1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Kết</a:t>
            </a:r>
            <a:r>
              <a:rPr lang="en-US" sz="2250" b="1" dirty="0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 </a:t>
            </a:r>
            <a:r>
              <a:rPr lang="en-US" sz="2250" b="1" dirty="0" err="1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quả</a:t>
            </a:r>
            <a:r>
              <a:rPr lang="en-US" sz="2250" b="1" dirty="0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 </a:t>
            </a:r>
            <a:r>
              <a:rPr sz="2250" b="1" dirty="0" err="1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chưa</a:t>
            </a:r>
            <a:r>
              <a:rPr sz="2250" b="1" dirty="0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 </a:t>
            </a:r>
            <a:r>
              <a:rPr lang="en-US" sz="2250" b="1" dirty="0" err="1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vượt</a:t>
            </a:r>
            <a:r>
              <a:rPr lang="en-US" sz="2250" b="1" dirty="0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 </a:t>
            </a:r>
            <a:r>
              <a:rPr lang="en-US" sz="2250" b="1" dirty="0" err="1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trội</a:t>
            </a:r>
            <a:r>
              <a:rPr lang="en-US" sz="2250" b="1" dirty="0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 </a:t>
            </a:r>
            <a:r>
              <a:rPr lang="en-US" sz="2250" b="1" dirty="0" err="1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được</a:t>
            </a:r>
            <a:r>
              <a:rPr lang="en-US" sz="2250" b="1" dirty="0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 </a:t>
            </a:r>
            <a:r>
              <a:rPr lang="en-US" sz="2250" b="1" dirty="0" err="1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về</a:t>
            </a:r>
            <a:r>
              <a:rPr lang="en-US" sz="2250" b="1" dirty="0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 </a:t>
            </a:r>
            <a:r>
              <a:rPr lang="en-US" sz="2250" b="1" dirty="0" err="1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độ</a:t>
            </a:r>
            <a:r>
              <a:rPr lang="en-US" sz="2250" b="1" dirty="0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 </a:t>
            </a:r>
            <a:r>
              <a:rPr lang="en-US" sz="2250" b="1" dirty="0" err="1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chính</a:t>
            </a:r>
            <a:r>
              <a:rPr lang="en-US" sz="2250" b="1" dirty="0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 </a:t>
            </a:r>
            <a:r>
              <a:rPr lang="en-US" sz="2250" b="1" dirty="0" err="1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xác</a:t>
            </a:r>
            <a:r>
              <a:rPr sz="2250" b="1" dirty="0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, </a:t>
            </a:r>
            <a:r>
              <a:rPr sz="2250" b="1" dirty="0" err="1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nhưng</a:t>
            </a:r>
            <a:r>
              <a:rPr sz="2250" b="1" dirty="0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 </a:t>
            </a:r>
            <a:r>
              <a:rPr sz="2250" b="1" dirty="0" err="1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cho</a:t>
            </a:r>
            <a:r>
              <a:rPr sz="2250" b="1" dirty="0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 trade-off </a:t>
            </a:r>
            <a:r>
              <a:rPr sz="2250" b="1" dirty="0" err="1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chất</a:t>
            </a:r>
            <a:r>
              <a:rPr sz="2250" b="1" dirty="0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 </a:t>
            </a:r>
            <a:r>
              <a:rPr sz="2250" b="1" dirty="0" err="1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lượng</a:t>
            </a:r>
            <a:r>
              <a:rPr sz="2250" b="1" dirty="0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 / compute </a:t>
            </a:r>
            <a:r>
              <a:rPr sz="2250" b="1" dirty="0" err="1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tốt</a:t>
            </a:r>
            <a:r>
              <a:rPr sz="2250" b="1" dirty="0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 </a:t>
            </a:r>
            <a:r>
              <a:rPr sz="2250" b="1" dirty="0" err="1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hơn</a:t>
            </a:r>
            <a:r>
              <a:rPr sz="2250" b="1" dirty="0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 so </a:t>
            </a:r>
            <a:r>
              <a:rPr sz="2250" b="1" dirty="0" err="1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với</a:t>
            </a:r>
            <a:r>
              <a:rPr sz="2250" b="1" dirty="0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 full refinement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D8AD14-2E35-4D52-B739-4EB82D14E0BE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5257800" cy="3467100"/>
          </a:xfrm>
          <a:prstGeom prst="rect">
            <a:avLst/>
          </a:prstGeom>
          <a:solidFill>
            <a:srgbClr val="FFFDFC"/>
          </a:solidFill>
          <a:ln w="9525">
            <a:solidFill>
              <a:srgbClr val="DCCFC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873A86-EE26-4FEF-BFE6-FE5ED40097DE}"/>
              </a:ext>
            </a:extLst>
          </p:cNvPr>
          <p:cNvSpPr>
            <a:spLocks noGrp="1"/>
          </p:cNvSpPr>
          <p:nvPr/>
        </p:nvSpPr>
        <p:spPr>
          <a:xfrm>
            <a:off x="819150" y="1905000"/>
            <a:ext cx="1295400" cy="266700"/>
          </a:xfrm>
          <a:prstGeom prst="rect">
            <a:avLst/>
          </a:prstGeom>
          <a:solidFill>
            <a:srgbClr val="EFD9D6"/>
          </a:solidFill>
          <a:ln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D0BC78-6983-43F8-B8B8-B292E8497B19}"/>
              </a:ext>
            </a:extLst>
          </p:cNvPr>
          <p:cNvSpPr>
            <a:spLocks noGrp="1"/>
          </p:cNvSpPr>
          <p:nvPr/>
        </p:nvSpPr>
        <p:spPr>
          <a:xfrm>
            <a:off x="819150" y="1952625"/>
            <a:ext cx="1295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A61E2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1E22"/>
                </a:solidFill>
                <a:latin typeface="Aptos"/>
                <a:ea typeface="Aptos"/>
                <a:cs typeface="Aptos"/>
              </a:rPr>
              <a:t>Dronescapes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B69549-30B8-46E6-850F-87A88F3F582E}"/>
              </a:ext>
            </a:extLst>
          </p:cNvPr>
          <p:cNvSpPr>
            <a:spLocks noGrp="1"/>
          </p:cNvSpPr>
          <p:nvPr/>
        </p:nvSpPr>
        <p:spPr>
          <a:xfrm>
            <a:off x="819150" y="2343150"/>
            <a:ext cx="4838700" cy="323850"/>
          </a:xfrm>
          <a:prstGeom prst="rect">
            <a:avLst/>
          </a:prstGeom>
          <a:solidFill>
            <a:srgbClr val="1E4F73"/>
          </a:solidFill>
          <a:ln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BE7101-1D8F-40CE-BDAA-1E2582986939}"/>
              </a:ext>
            </a:extLst>
          </p:cNvPr>
          <p:cNvSpPr>
            <a:spLocks noGrp="1"/>
          </p:cNvSpPr>
          <p:nvPr/>
        </p:nvSpPr>
        <p:spPr>
          <a:xfrm>
            <a:off x="895350" y="2409825"/>
            <a:ext cx="81534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2C6BB2-743C-4493-B6DC-491AFFEE87F3}"/>
              </a:ext>
            </a:extLst>
          </p:cNvPr>
          <p:cNvSpPr>
            <a:spLocks noGrp="1"/>
          </p:cNvSpPr>
          <p:nvPr/>
        </p:nvSpPr>
        <p:spPr>
          <a:xfrm>
            <a:off x="1863090" y="2409825"/>
            <a:ext cx="81534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E9FA64-ABB0-421C-880A-AECC1BA64E39}"/>
              </a:ext>
            </a:extLst>
          </p:cNvPr>
          <p:cNvSpPr>
            <a:spLocks noGrp="1"/>
          </p:cNvSpPr>
          <p:nvPr/>
        </p:nvSpPr>
        <p:spPr>
          <a:xfrm>
            <a:off x="2830830" y="2409825"/>
            <a:ext cx="81534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RMSE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083601-93FE-4DC0-AD16-D151D9A773EE}"/>
              </a:ext>
            </a:extLst>
          </p:cNvPr>
          <p:cNvSpPr>
            <a:spLocks noGrp="1"/>
          </p:cNvSpPr>
          <p:nvPr/>
        </p:nvSpPr>
        <p:spPr>
          <a:xfrm>
            <a:off x="3798570" y="2409825"/>
            <a:ext cx="81534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AbsRel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AC389B-8560-45C4-994C-1389D81A9FFB}"/>
              </a:ext>
            </a:extLst>
          </p:cNvPr>
          <p:cNvSpPr>
            <a:spLocks noGrp="1"/>
          </p:cNvSpPr>
          <p:nvPr/>
        </p:nvSpPr>
        <p:spPr>
          <a:xfrm>
            <a:off x="4766310" y="2409825"/>
            <a:ext cx="81534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Sel.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9739EB9-D0FB-491E-ACE1-78509573C673}"/>
              </a:ext>
            </a:extLst>
          </p:cNvPr>
          <p:cNvSpPr>
            <a:spLocks noGrp="1"/>
          </p:cNvSpPr>
          <p:nvPr/>
        </p:nvSpPr>
        <p:spPr>
          <a:xfrm>
            <a:off x="819150" y="2667000"/>
            <a:ext cx="4838700" cy="323850"/>
          </a:xfrm>
          <a:prstGeom prst="rect">
            <a:avLst/>
          </a:prstGeom>
          <a:solidFill>
            <a:srgbClr val="FFFDFC"/>
          </a:solidFill>
          <a:ln w="9525">
            <a:solidFill>
              <a:srgbClr val="DCCFC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34AD93-E1F3-43C4-82C2-156A3B07D579}"/>
              </a:ext>
            </a:extLst>
          </p:cNvPr>
          <p:cNvSpPr>
            <a:spLocks noGrp="1"/>
          </p:cNvSpPr>
          <p:nvPr/>
        </p:nvSpPr>
        <p:spPr>
          <a:xfrm>
            <a:off x="895350" y="2733675"/>
            <a:ext cx="81534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411"/>
                </a:solidFill>
                <a:latin typeface="Aptos"/>
                <a:ea typeface="Aptos"/>
                <a:cs typeface="Aptos"/>
              </a:rPr>
              <a:t>DUSt3R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5610CB-E675-45F7-9818-DAE58B5D985F}"/>
              </a:ext>
            </a:extLst>
          </p:cNvPr>
          <p:cNvSpPr>
            <a:spLocks noGrp="1"/>
          </p:cNvSpPr>
          <p:nvPr/>
        </p:nvSpPr>
        <p:spPr>
          <a:xfrm>
            <a:off x="1863090" y="2733675"/>
            <a:ext cx="81534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1411"/>
                </a:solidFill>
                <a:latin typeface="Aptos"/>
                <a:ea typeface="Aptos"/>
                <a:cs typeface="Aptos"/>
              </a:rPr>
              <a:t>345.054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EBD61CA-A921-48DB-9CB1-5E239DEFACEC}"/>
              </a:ext>
            </a:extLst>
          </p:cNvPr>
          <p:cNvSpPr>
            <a:spLocks noGrp="1"/>
          </p:cNvSpPr>
          <p:nvPr/>
        </p:nvSpPr>
        <p:spPr>
          <a:xfrm>
            <a:off x="2830830" y="2733675"/>
            <a:ext cx="81534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1411"/>
                </a:solidFill>
                <a:latin typeface="Aptos"/>
                <a:ea typeface="Aptos"/>
                <a:cs typeface="Aptos"/>
              </a:rPr>
              <a:t>447.936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AF59062-BABE-4B3F-80A5-A40514840E4E}"/>
              </a:ext>
            </a:extLst>
          </p:cNvPr>
          <p:cNvSpPr>
            <a:spLocks noGrp="1"/>
          </p:cNvSpPr>
          <p:nvPr/>
        </p:nvSpPr>
        <p:spPr>
          <a:xfrm>
            <a:off x="3798570" y="2733675"/>
            <a:ext cx="81534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1411"/>
                </a:solidFill>
                <a:latin typeface="Aptos"/>
                <a:ea typeface="Aptos"/>
                <a:cs typeface="Aptos"/>
              </a:rPr>
              <a:t>0.9905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3DAC0A-1926-4AAB-957B-E9D33E2C9609}"/>
              </a:ext>
            </a:extLst>
          </p:cNvPr>
          <p:cNvSpPr>
            <a:spLocks noGrp="1"/>
          </p:cNvSpPr>
          <p:nvPr/>
        </p:nvSpPr>
        <p:spPr>
          <a:xfrm>
            <a:off x="4766310" y="2733675"/>
            <a:ext cx="81534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1411"/>
                </a:solidFill>
                <a:latin typeface="Aptos"/>
                <a:ea typeface="Aptos"/>
                <a:cs typeface="Aptos"/>
              </a:rPr>
              <a:t>1.00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2CE3B5B-1EEF-499A-8293-083D2B13BDD5}"/>
              </a:ext>
            </a:extLst>
          </p:cNvPr>
          <p:cNvSpPr>
            <a:spLocks noGrp="1"/>
          </p:cNvSpPr>
          <p:nvPr/>
        </p:nvSpPr>
        <p:spPr>
          <a:xfrm>
            <a:off x="819150" y="2990850"/>
            <a:ext cx="4838700" cy="323850"/>
          </a:xfrm>
          <a:prstGeom prst="rect">
            <a:avLst/>
          </a:prstGeom>
          <a:solidFill>
            <a:srgbClr val="F3ECE2"/>
          </a:solidFill>
          <a:ln w="9525">
            <a:solidFill>
              <a:srgbClr val="DCCFC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CE46AF6-9325-4601-859D-B45BFBB8D751}"/>
              </a:ext>
            </a:extLst>
          </p:cNvPr>
          <p:cNvSpPr>
            <a:spLocks noGrp="1"/>
          </p:cNvSpPr>
          <p:nvPr/>
        </p:nvSpPr>
        <p:spPr>
          <a:xfrm>
            <a:off x="895350" y="3057525"/>
            <a:ext cx="81534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411"/>
                </a:solidFill>
                <a:latin typeface="Aptos"/>
                <a:ea typeface="Aptos"/>
                <a:cs typeface="Aptos"/>
              </a:rPr>
              <a:t>MASt3R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FA59E7D-BD4E-40C8-A7C6-7E8BF3B61A11}"/>
              </a:ext>
            </a:extLst>
          </p:cNvPr>
          <p:cNvSpPr>
            <a:spLocks noGrp="1"/>
          </p:cNvSpPr>
          <p:nvPr/>
        </p:nvSpPr>
        <p:spPr>
          <a:xfrm>
            <a:off x="1863090" y="3057525"/>
            <a:ext cx="81534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1411"/>
                </a:solidFill>
                <a:latin typeface="Aptos"/>
                <a:ea typeface="Aptos"/>
                <a:cs typeface="Aptos"/>
              </a:rPr>
              <a:t>343.628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93EA289-1C38-4B83-A762-8F6BC61CA4A5}"/>
              </a:ext>
            </a:extLst>
          </p:cNvPr>
          <p:cNvSpPr>
            <a:spLocks noGrp="1"/>
          </p:cNvSpPr>
          <p:nvPr/>
        </p:nvSpPr>
        <p:spPr>
          <a:xfrm>
            <a:off x="2830830" y="3057525"/>
            <a:ext cx="81534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1411"/>
                </a:solidFill>
                <a:latin typeface="Aptos"/>
                <a:ea typeface="Aptos"/>
                <a:cs typeface="Aptos"/>
              </a:rPr>
              <a:t>446.506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4E0F571-87A1-4187-A2E4-3EAB2554AADF}"/>
              </a:ext>
            </a:extLst>
          </p:cNvPr>
          <p:cNvSpPr>
            <a:spLocks noGrp="1"/>
          </p:cNvSpPr>
          <p:nvPr/>
        </p:nvSpPr>
        <p:spPr>
          <a:xfrm>
            <a:off x="3798570" y="3057525"/>
            <a:ext cx="81534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1411"/>
                </a:solidFill>
                <a:latin typeface="Aptos"/>
                <a:ea typeface="Aptos"/>
                <a:cs typeface="Aptos"/>
              </a:rPr>
              <a:t>0.9858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EC1DAE9-74E4-4A62-9FC5-52041444BEBD}"/>
              </a:ext>
            </a:extLst>
          </p:cNvPr>
          <p:cNvSpPr>
            <a:spLocks noGrp="1"/>
          </p:cNvSpPr>
          <p:nvPr/>
        </p:nvSpPr>
        <p:spPr>
          <a:xfrm>
            <a:off x="4766310" y="3057525"/>
            <a:ext cx="81534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1411"/>
                </a:solidFill>
                <a:latin typeface="Aptos"/>
                <a:ea typeface="Aptos"/>
                <a:cs typeface="Aptos"/>
              </a:rPr>
              <a:t>1.00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C3297CA-B706-403E-8AD0-FE094FE5084E}"/>
              </a:ext>
            </a:extLst>
          </p:cNvPr>
          <p:cNvSpPr>
            <a:spLocks noGrp="1"/>
          </p:cNvSpPr>
          <p:nvPr/>
        </p:nvSpPr>
        <p:spPr>
          <a:xfrm>
            <a:off x="819150" y="3314700"/>
            <a:ext cx="4838700" cy="323850"/>
          </a:xfrm>
          <a:prstGeom prst="rect">
            <a:avLst/>
          </a:prstGeom>
          <a:solidFill>
            <a:srgbClr val="EFD9D6"/>
          </a:solidFill>
          <a:ln w="9525">
            <a:solidFill>
              <a:srgbClr val="DCCFC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56AA289-EEB9-43E3-AB3D-E5DF6BEC6D6C}"/>
              </a:ext>
            </a:extLst>
          </p:cNvPr>
          <p:cNvSpPr>
            <a:spLocks noGrp="1"/>
          </p:cNvSpPr>
          <p:nvPr/>
        </p:nvSpPr>
        <p:spPr>
          <a:xfrm>
            <a:off x="895350" y="3381375"/>
            <a:ext cx="81534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411"/>
                </a:solidFill>
                <a:latin typeface="Aptos"/>
                <a:ea typeface="Aptos"/>
                <a:cs typeface="Aptos"/>
              </a:rPr>
              <a:t>Risk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65FBBB0-9264-44BD-B09D-FB6FD6BCF487}"/>
              </a:ext>
            </a:extLst>
          </p:cNvPr>
          <p:cNvSpPr>
            <a:spLocks noGrp="1"/>
          </p:cNvSpPr>
          <p:nvPr/>
        </p:nvSpPr>
        <p:spPr>
          <a:xfrm>
            <a:off x="1863090" y="3381375"/>
            <a:ext cx="81534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1411"/>
                </a:solidFill>
                <a:latin typeface="Aptos"/>
                <a:ea typeface="Aptos"/>
                <a:cs typeface="Aptos"/>
              </a:rPr>
              <a:t>344.913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DC52C56-C56F-42D8-9DBE-C937DBDA15DE}"/>
              </a:ext>
            </a:extLst>
          </p:cNvPr>
          <p:cNvSpPr>
            <a:spLocks noGrp="1"/>
          </p:cNvSpPr>
          <p:nvPr/>
        </p:nvSpPr>
        <p:spPr>
          <a:xfrm>
            <a:off x="2830830" y="3381375"/>
            <a:ext cx="81534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1411"/>
                </a:solidFill>
                <a:latin typeface="Aptos"/>
                <a:ea typeface="Aptos"/>
                <a:cs typeface="Aptos"/>
              </a:rPr>
              <a:t>447.812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8F418F6-AB34-47C8-8A2E-7B6AADF1CDB7}"/>
              </a:ext>
            </a:extLst>
          </p:cNvPr>
          <p:cNvSpPr>
            <a:spLocks noGrp="1"/>
          </p:cNvSpPr>
          <p:nvPr/>
        </p:nvSpPr>
        <p:spPr>
          <a:xfrm>
            <a:off x="3798570" y="3381375"/>
            <a:ext cx="81534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1411"/>
                </a:solidFill>
                <a:latin typeface="Aptos"/>
                <a:ea typeface="Aptos"/>
                <a:cs typeface="Aptos"/>
              </a:rPr>
              <a:t>0.9900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F8E7D52-3AA3-48CB-AA32-DD79B174E27E}"/>
              </a:ext>
            </a:extLst>
          </p:cNvPr>
          <p:cNvSpPr>
            <a:spLocks noGrp="1"/>
          </p:cNvSpPr>
          <p:nvPr/>
        </p:nvSpPr>
        <p:spPr>
          <a:xfrm>
            <a:off x="4766310" y="3381375"/>
            <a:ext cx="81534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1411"/>
                </a:solidFill>
                <a:latin typeface="Aptos"/>
                <a:ea typeface="Aptos"/>
                <a:cs typeface="Aptos"/>
              </a:rPr>
              <a:t>0.25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A507DF5-CF55-47D5-92D5-F54C0D3087B4}"/>
              </a:ext>
            </a:extLst>
          </p:cNvPr>
          <p:cNvSpPr>
            <a:spLocks noGrp="1"/>
          </p:cNvSpPr>
          <p:nvPr/>
        </p:nvSpPr>
        <p:spPr>
          <a:xfrm>
            <a:off x="819150" y="3733800"/>
            <a:ext cx="483870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B625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B625B"/>
                </a:solidFill>
                <a:latin typeface="Aptos"/>
                <a:ea typeface="Aptos"/>
                <a:cs typeface="Aptos"/>
              </a:rPr>
              <a:t>Risk-hybrid cải thiện nhất quán so với DUSt3R và giữ sai số rất sát MASt3R, nhưng chỉ refine 25% số frame. Đây là tín hiệu mạnh nhất ủng hộ selective refinement.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ADECC24-2A65-43FB-B618-53FF767A2EEB}"/>
              </a:ext>
            </a:extLst>
          </p:cNvPr>
          <p:cNvSpPr>
            <a:spLocks noGrp="1"/>
          </p:cNvSpPr>
          <p:nvPr/>
        </p:nvSpPr>
        <p:spPr>
          <a:xfrm>
            <a:off x="6324600" y="1714500"/>
            <a:ext cx="5257800" cy="3467100"/>
          </a:xfrm>
          <a:prstGeom prst="rect">
            <a:avLst/>
          </a:prstGeom>
          <a:solidFill>
            <a:srgbClr val="FFFDFC"/>
          </a:solidFill>
          <a:ln w="9525">
            <a:solidFill>
              <a:srgbClr val="DCCFC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87729FA-F8B3-492D-8639-3A1CB5614E38}"/>
              </a:ext>
            </a:extLst>
          </p:cNvPr>
          <p:cNvSpPr>
            <a:spLocks noGrp="1"/>
          </p:cNvSpPr>
          <p:nvPr/>
        </p:nvSpPr>
        <p:spPr>
          <a:xfrm>
            <a:off x="6534150" y="1905000"/>
            <a:ext cx="1123950" cy="266700"/>
          </a:xfrm>
          <a:prstGeom prst="rect">
            <a:avLst/>
          </a:prstGeom>
          <a:solidFill>
            <a:srgbClr val="DCE8F2"/>
          </a:solidFill>
          <a:ln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B5353B5-AC67-4098-AFCB-5807FC88C815}"/>
              </a:ext>
            </a:extLst>
          </p:cNvPr>
          <p:cNvSpPr>
            <a:spLocks noGrp="1"/>
          </p:cNvSpPr>
          <p:nvPr/>
        </p:nvSpPr>
        <p:spPr>
          <a:xfrm>
            <a:off x="6534150" y="1952625"/>
            <a:ext cx="112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E4F7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4F73"/>
                </a:solidFill>
                <a:latin typeface="Aptos"/>
                <a:ea typeface="Aptos"/>
                <a:cs typeface="Aptos"/>
              </a:rPr>
              <a:t>ODMData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6D9DF51-F1AA-49A0-8DAC-2FE2E046E256}"/>
              </a:ext>
            </a:extLst>
          </p:cNvPr>
          <p:cNvSpPr>
            <a:spLocks noGrp="1"/>
          </p:cNvSpPr>
          <p:nvPr/>
        </p:nvSpPr>
        <p:spPr>
          <a:xfrm>
            <a:off x="6534150" y="2343150"/>
            <a:ext cx="4838700" cy="323850"/>
          </a:xfrm>
          <a:prstGeom prst="rect">
            <a:avLst/>
          </a:prstGeom>
          <a:solidFill>
            <a:srgbClr val="A61E22"/>
          </a:solidFill>
          <a:ln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C5AF067-F2F1-447A-89DC-41D579CB2947}"/>
              </a:ext>
            </a:extLst>
          </p:cNvPr>
          <p:cNvSpPr>
            <a:spLocks noGrp="1"/>
          </p:cNvSpPr>
          <p:nvPr/>
        </p:nvSpPr>
        <p:spPr>
          <a:xfrm>
            <a:off x="6610350" y="2409825"/>
            <a:ext cx="81534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928437E-4792-463B-923C-F8EE2CD7A6E8}"/>
              </a:ext>
            </a:extLst>
          </p:cNvPr>
          <p:cNvSpPr>
            <a:spLocks noGrp="1"/>
          </p:cNvSpPr>
          <p:nvPr/>
        </p:nvSpPr>
        <p:spPr>
          <a:xfrm>
            <a:off x="7578090" y="2409825"/>
            <a:ext cx="81534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60FDC68-AD3C-4BA7-A801-7E98BC1CD19A}"/>
              </a:ext>
            </a:extLst>
          </p:cNvPr>
          <p:cNvSpPr>
            <a:spLocks noGrp="1"/>
          </p:cNvSpPr>
          <p:nvPr/>
        </p:nvSpPr>
        <p:spPr>
          <a:xfrm>
            <a:off x="8545830" y="2409825"/>
            <a:ext cx="81534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RMSE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FDD0357-7C70-4008-82F4-223CF0F33229}"/>
              </a:ext>
            </a:extLst>
          </p:cNvPr>
          <p:cNvSpPr>
            <a:spLocks noGrp="1"/>
          </p:cNvSpPr>
          <p:nvPr/>
        </p:nvSpPr>
        <p:spPr>
          <a:xfrm>
            <a:off x="9513570" y="2409825"/>
            <a:ext cx="81534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AbsRel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459DE01-D6D2-4CCE-B083-19CE94E5DA1F}"/>
              </a:ext>
            </a:extLst>
          </p:cNvPr>
          <p:cNvSpPr>
            <a:spLocks noGrp="1"/>
          </p:cNvSpPr>
          <p:nvPr/>
        </p:nvSpPr>
        <p:spPr>
          <a:xfrm>
            <a:off x="10481310" y="2409825"/>
            <a:ext cx="81534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Sel.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5EE1726-0E26-4913-B864-CB78219DDA8A}"/>
              </a:ext>
            </a:extLst>
          </p:cNvPr>
          <p:cNvSpPr>
            <a:spLocks noGrp="1"/>
          </p:cNvSpPr>
          <p:nvPr/>
        </p:nvSpPr>
        <p:spPr>
          <a:xfrm>
            <a:off x="6534150" y="2667000"/>
            <a:ext cx="4838700" cy="323850"/>
          </a:xfrm>
          <a:prstGeom prst="rect">
            <a:avLst/>
          </a:prstGeom>
          <a:solidFill>
            <a:srgbClr val="FFFDFC"/>
          </a:solidFill>
          <a:ln w="9525">
            <a:solidFill>
              <a:srgbClr val="DCCFC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499A28E-E6E4-4E68-86BD-4F1AE66F5810}"/>
              </a:ext>
            </a:extLst>
          </p:cNvPr>
          <p:cNvSpPr>
            <a:spLocks noGrp="1"/>
          </p:cNvSpPr>
          <p:nvPr/>
        </p:nvSpPr>
        <p:spPr>
          <a:xfrm>
            <a:off x="6610350" y="2733675"/>
            <a:ext cx="81534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411"/>
                </a:solidFill>
                <a:latin typeface="Aptos"/>
                <a:ea typeface="Aptos"/>
                <a:cs typeface="Aptos"/>
              </a:rPr>
              <a:t>DUSt3R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2C4F937-610F-474C-94C5-015C11B7EFC6}"/>
              </a:ext>
            </a:extLst>
          </p:cNvPr>
          <p:cNvSpPr>
            <a:spLocks noGrp="1"/>
          </p:cNvSpPr>
          <p:nvPr/>
        </p:nvSpPr>
        <p:spPr>
          <a:xfrm>
            <a:off x="7578090" y="2733675"/>
            <a:ext cx="81534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1411"/>
                </a:solidFill>
                <a:latin typeface="Aptos"/>
                <a:ea typeface="Aptos"/>
                <a:cs typeface="Aptos"/>
              </a:rPr>
              <a:t>0.1576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991A1D3-B2B6-4E8D-9AE5-6BF8AC80FA33}"/>
              </a:ext>
            </a:extLst>
          </p:cNvPr>
          <p:cNvSpPr>
            <a:spLocks noGrp="1"/>
          </p:cNvSpPr>
          <p:nvPr/>
        </p:nvSpPr>
        <p:spPr>
          <a:xfrm>
            <a:off x="8545830" y="2733675"/>
            <a:ext cx="81534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1411"/>
                </a:solidFill>
                <a:latin typeface="Aptos"/>
                <a:ea typeface="Aptos"/>
                <a:cs typeface="Aptos"/>
              </a:rPr>
              <a:t>0.2184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53B1203-620A-488D-AD85-85B9054FEBE6}"/>
              </a:ext>
            </a:extLst>
          </p:cNvPr>
          <p:cNvSpPr>
            <a:spLocks noGrp="1"/>
          </p:cNvSpPr>
          <p:nvPr/>
        </p:nvSpPr>
        <p:spPr>
          <a:xfrm>
            <a:off x="9513570" y="2733675"/>
            <a:ext cx="81534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1411"/>
                </a:solidFill>
                <a:latin typeface="Aptos"/>
                <a:ea typeface="Aptos"/>
                <a:cs typeface="Aptos"/>
              </a:rPr>
              <a:t>0.0337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47968E6-78BC-467D-9F9D-E08B8CF6FA9C}"/>
              </a:ext>
            </a:extLst>
          </p:cNvPr>
          <p:cNvSpPr>
            <a:spLocks noGrp="1"/>
          </p:cNvSpPr>
          <p:nvPr/>
        </p:nvSpPr>
        <p:spPr>
          <a:xfrm>
            <a:off x="10481310" y="2733675"/>
            <a:ext cx="81534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1411"/>
                </a:solidFill>
                <a:latin typeface="Aptos"/>
                <a:ea typeface="Aptos"/>
                <a:cs typeface="Aptos"/>
              </a:rPr>
              <a:t>1.00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85B78C6-B17A-4AAF-9557-4E684E72F405}"/>
              </a:ext>
            </a:extLst>
          </p:cNvPr>
          <p:cNvSpPr>
            <a:spLocks noGrp="1"/>
          </p:cNvSpPr>
          <p:nvPr/>
        </p:nvSpPr>
        <p:spPr>
          <a:xfrm>
            <a:off x="6534150" y="2990850"/>
            <a:ext cx="4838700" cy="323850"/>
          </a:xfrm>
          <a:prstGeom prst="rect">
            <a:avLst/>
          </a:prstGeom>
          <a:solidFill>
            <a:srgbClr val="F3ECE2"/>
          </a:solidFill>
          <a:ln w="9525">
            <a:solidFill>
              <a:srgbClr val="DCCFC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95CF3B4-8108-410C-AEF7-C023B0FFE439}"/>
              </a:ext>
            </a:extLst>
          </p:cNvPr>
          <p:cNvSpPr>
            <a:spLocks noGrp="1"/>
          </p:cNvSpPr>
          <p:nvPr/>
        </p:nvSpPr>
        <p:spPr>
          <a:xfrm>
            <a:off x="6610350" y="3057525"/>
            <a:ext cx="81534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411"/>
                </a:solidFill>
                <a:latin typeface="Aptos"/>
                <a:ea typeface="Aptos"/>
                <a:cs typeface="Aptos"/>
              </a:rPr>
              <a:t>MASt3R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A38ECED-DB9E-4FFD-A537-CCEB5D944E4C}"/>
              </a:ext>
            </a:extLst>
          </p:cNvPr>
          <p:cNvSpPr>
            <a:spLocks noGrp="1"/>
          </p:cNvSpPr>
          <p:nvPr/>
        </p:nvSpPr>
        <p:spPr>
          <a:xfrm>
            <a:off x="7578090" y="3057525"/>
            <a:ext cx="81534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1411"/>
                </a:solidFill>
                <a:latin typeface="Aptos"/>
                <a:ea typeface="Aptos"/>
                <a:cs typeface="Aptos"/>
              </a:rPr>
              <a:t>0.1299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F3A0EAC-83FB-474E-BE5C-0446DD1B0654}"/>
              </a:ext>
            </a:extLst>
          </p:cNvPr>
          <p:cNvSpPr>
            <a:spLocks noGrp="1"/>
          </p:cNvSpPr>
          <p:nvPr/>
        </p:nvSpPr>
        <p:spPr>
          <a:xfrm>
            <a:off x="8545830" y="3057525"/>
            <a:ext cx="81534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1411"/>
                </a:solidFill>
                <a:latin typeface="Aptos"/>
                <a:ea typeface="Aptos"/>
                <a:cs typeface="Aptos"/>
              </a:rPr>
              <a:t>0.1801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72E79CF-E709-4ED9-9B29-7706B46DE5C4}"/>
              </a:ext>
            </a:extLst>
          </p:cNvPr>
          <p:cNvSpPr>
            <a:spLocks noGrp="1"/>
          </p:cNvSpPr>
          <p:nvPr/>
        </p:nvSpPr>
        <p:spPr>
          <a:xfrm>
            <a:off x="9513570" y="3057525"/>
            <a:ext cx="81534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1411"/>
                </a:solidFill>
                <a:latin typeface="Aptos"/>
                <a:ea typeface="Aptos"/>
                <a:cs typeface="Aptos"/>
              </a:rPr>
              <a:t>0.0274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65ED434-CA32-4263-B87C-CEBA2252BB2F}"/>
              </a:ext>
            </a:extLst>
          </p:cNvPr>
          <p:cNvSpPr>
            <a:spLocks noGrp="1"/>
          </p:cNvSpPr>
          <p:nvPr/>
        </p:nvSpPr>
        <p:spPr>
          <a:xfrm>
            <a:off x="10481310" y="3057525"/>
            <a:ext cx="81534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1411"/>
                </a:solidFill>
                <a:latin typeface="Aptos"/>
                <a:ea typeface="Aptos"/>
                <a:cs typeface="Aptos"/>
              </a:rPr>
              <a:t>1.00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2E06A76-FF2A-47DA-9E85-A3A1090EE546}"/>
              </a:ext>
            </a:extLst>
          </p:cNvPr>
          <p:cNvSpPr>
            <a:spLocks noGrp="1"/>
          </p:cNvSpPr>
          <p:nvPr/>
        </p:nvSpPr>
        <p:spPr>
          <a:xfrm>
            <a:off x="6534150" y="3314700"/>
            <a:ext cx="4838700" cy="323850"/>
          </a:xfrm>
          <a:prstGeom prst="rect">
            <a:avLst/>
          </a:prstGeom>
          <a:solidFill>
            <a:srgbClr val="EFD9D6"/>
          </a:solidFill>
          <a:ln w="9525">
            <a:solidFill>
              <a:srgbClr val="DCCFC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C2353D8-E588-4160-A775-E7FDB47961F8}"/>
              </a:ext>
            </a:extLst>
          </p:cNvPr>
          <p:cNvSpPr>
            <a:spLocks noGrp="1"/>
          </p:cNvSpPr>
          <p:nvPr/>
        </p:nvSpPr>
        <p:spPr>
          <a:xfrm>
            <a:off x="6610350" y="3381375"/>
            <a:ext cx="81534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411"/>
                </a:solidFill>
                <a:latin typeface="Aptos"/>
                <a:ea typeface="Aptos"/>
                <a:cs typeface="Aptos"/>
              </a:rPr>
              <a:t>Risk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A483AC8-6071-4D8A-AE86-636B00746FFA}"/>
              </a:ext>
            </a:extLst>
          </p:cNvPr>
          <p:cNvSpPr>
            <a:spLocks noGrp="1"/>
          </p:cNvSpPr>
          <p:nvPr/>
        </p:nvSpPr>
        <p:spPr>
          <a:xfrm>
            <a:off x="7578090" y="3381375"/>
            <a:ext cx="81534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1411"/>
                </a:solidFill>
                <a:latin typeface="Aptos"/>
                <a:ea typeface="Aptos"/>
                <a:cs typeface="Aptos"/>
              </a:rPr>
              <a:t>0.1584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0DB8947-2040-4518-BC92-5679242B70E7}"/>
              </a:ext>
            </a:extLst>
          </p:cNvPr>
          <p:cNvSpPr>
            <a:spLocks noGrp="1"/>
          </p:cNvSpPr>
          <p:nvPr/>
        </p:nvSpPr>
        <p:spPr>
          <a:xfrm>
            <a:off x="8545830" y="3381375"/>
            <a:ext cx="81534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1411"/>
                </a:solidFill>
                <a:latin typeface="Aptos"/>
                <a:ea typeface="Aptos"/>
                <a:cs typeface="Aptos"/>
              </a:rPr>
              <a:t>0.2188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6F6E55F-A542-43F6-8E9C-2B7777665733}"/>
              </a:ext>
            </a:extLst>
          </p:cNvPr>
          <p:cNvSpPr>
            <a:spLocks noGrp="1"/>
          </p:cNvSpPr>
          <p:nvPr/>
        </p:nvSpPr>
        <p:spPr>
          <a:xfrm>
            <a:off x="9513570" y="3381375"/>
            <a:ext cx="81534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1411"/>
                </a:solidFill>
                <a:latin typeface="Aptos"/>
                <a:ea typeface="Aptos"/>
                <a:cs typeface="Aptos"/>
              </a:rPr>
              <a:t>0.0340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5E9CE00-4DBF-4514-854F-E7D13ABCF89F}"/>
              </a:ext>
            </a:extLst>
          </p:cNvPr>
          <p:cNvSpPr>
            <a:spLocks noGrp="1"/>
          </p:cNvSpPr>
          <p:nvPr/>
        </p:nvSpPr>
        <p:spPr>
          <a:xfrm>
            <a:off x="10481310" y="3381375"/>
            <a:ext cx="81534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1411"/>
                </a:solidFill>
                <a:latin typeface="Aptos"/>
                <a:ea typeface="Aptos"/>
                <a:cs typeface="Aptos"/>
              </a:rPr>
              <a:t>0.069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E24CDEB-69BB-403D-8A21-78CA37475441}"/>
              </a:ext>
            </a:extLst>
          </p:cNvPr>
          <p:cNvSpPr>
            <a:spLocks noGrp="1"/>
          </p:cNvSpPr>
          <p:nvPr/>
        </p:nvSpPr>
        <p:spPr>
          <a:xfrm>
            <a:off x="6534150" y="3733800"/>
            <a:ext cx="483870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B625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B625B"/>
                </a:solidFill>
                <a:latin typeface="Aptos"/>
                <a:ea typeface="Aptos"/>
                <a:cs typeface="Aptos"/>
              </a:rPr>
              <a:t>Trên block photogrammetry UAV thật, Risk-hybrid ở cùng dải sai số với DUSt3R nhưng chỉ refine 6.9% số frame. Điều này cho thấy pipeline đang tiết kiệm budget rất mạnh.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32944C4-8A71-4F9F-9686-052CE54B147E}"/>
              </a:ext>
            </a:extLst>
          </p:cNvPr>
          <p:cNvSpPr>
            <a:spLocks noGrp="1"/>
          </p:cNvSpPr>
          <p:nvPr/>
        </p:nvSpPr>
        <p:spPr>
          <a:xfrm>
            <a:off x="609600" y="5524500"/>
            <a:ext cx="5257800" cy="742950"/>
          </a:xfrm>
          <a:prstGeom prst="rect">
            <a:avLst/>
          </a:prstGeom>
          <a:solidFill>
            <a:srgbClr val="DAEFE3"/>
          </a:solidFill>
          <a:ln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FD4459CB-1F6E-46CA-905F-2FE48CFC5010}"/>
              </a:ext>
            </a:extLst>
          </p:cNvPr>
          <p:cNvSpPr>
            <a:spLocks noGrp="1"/>
          </p:cNvSpPr>
          <p:nvPr/>
        </p:nvSpPr>
        <p:spPr>
          <a:xfrm>
            <a:off x="819150" y="5673087"/>
            <a:ext cx="4876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2E7D5B"/>
                </a:solidFill>
                <a:latin typeface="Aptos"/>
                <a:ea typeface="Aptos"/>
                <a:cs typeface="Aptos"/>
              </a:rPr>
              <a:t>Takeaway 1: risk-hybrid </a:t>
            </a:r>
            <a:r>
              <a:rPr sz="1575" b="0" dirty="0" err="1">
                <a:solidFill>
                  <a:srgbClr val="2E7D5B"/>
                </a:solidFill>
                <a:latin typeface="Aptos"/>
                <a:ea typeface="Aptos"/>
                <a:cs typeface="Aptos"/>
              </a:rPr>
              <a:t>đủ</a:t>
            </a:r>
            <a:r>
              <a:rPr sz="1575" b="0" dirty="0">
                <a:solidFill>
                  <a:srgbClr val="2E7D5B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2E7D5B"/>
                </a:solidFill>
                <a:latin typeface="Aptos"/>
                <a:ea typeface="Aptos"/>
                <a:cs typeface="Aptos"/>
              </a:rPr>
              <a:t>gần</a:t>
            </a:r>
            <a:r>
              <a:rPr sz="1575" b="0" dirty="0">
                <a:solidFill>
                  <a:srgbClr val="2E7D5B"/>
                </a:solidFill>
                <a:latin typeface="Aptos"/>
                <a:ea typeface="Aptos"/>
                <a:cs typeface="Aptos"/>
              </a:rPr>
              <a:t> MASt3R </a:t>
            </a:r>
            <a:r>
              <a:rPr sz="1575" b="0" dirty="0" err="1">
                <a:solidFill>
                  <a:srgbClr val="2E7D5B"/>
                </a:solidFill>
                <a:latin typeface="Aptos"/>
                <a:ea typeface="Aptos"/>
                <a:cs typeface="Aptos"/>
              </a:rPr>
              <a:t>để</a:t>
            </a:r>
            <a:r>
              <a:rPr sz="1575" b="0" dirty="0">
                <a:solidFill>
                  <a:srgbClr val="2E7D5B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2E7D5B"/>
                </a:solidFill>
                <a:latin typeface="Aptos"/>
                <a:ea typeface="Aptos"/>
                <a:cs typeface="Aptos"/>
              </a:rPr>
              <a:t>trở</a:t>
            </a:r>
            <a:r>
              <a:rPr sz="1575" b="0" dirty="0">
                <a:solidFill>
                  <a:srgbClr val="2E7D5B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2E7D5B"/>
                </a:solidFill>
                <a:latin typeface="Aptos"/>
                <a:ea typeface="Aptos"/>
                <a:cs typeface="Aptos"/>
              </a:rPr>
              <a:t>thành</a:t>
            </a:r>
            <a:r>
              <a:rPr sz="1575" b="0" dirty="0">
                <a:solidFill>
                  <a:srgbClr val="2E7D5B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2E7D5B"/>
                </a:solidFill>
                <a:latin typeface="Aptos"/>
                <a:ea typeface="Aptos"/>
                <a:cs typeface="Aptos"/>
              </a:rPr>
              <a:t>một</a:t>
            </a:r>
            <a:r>
              <a:rPr sz="1575" b="0" dirty="0">
                <a:solidFill>
                  <a:srgbClr val="2E7D5B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2E7D5B"/>
                </a:solidFill>
                <a:latin typeface="Aptos"/>
                <a:ea typeface="Aptos"/>
                <a:cs typeface="Aptos"/>
              </a:rPr>
              <a:t>lựa</a:t>
            </a:r>
            <a:r>
              <a:rPr sz="1575" b="0" dirty="0">
                <a:solidFill>
                  <a:srgbClr val="2E7D5B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2E7D5B"/>
                </a:solidFill>
                <a:latin typeface="Aptos"/>
                <a:ea typeface="Aptos"/>
                <a:cs typeface="Aptos"/>
              </a:rPr>
              <a:t>chọn</a:t>
            </a:r>
            <a:r>
              <a:rPr sz="1575" b="0" dirty="0">
                <a:solidFill>
                  <a:srgbClr val="2E7D5B"/>
                </a:solidFill>
                <a:latin typeface="Aptos"/>
                <a:ea typeface="Aptos"/>
                <a:cs typeface="Aptos"/>
              </a:rPr>
              <a:t> efficiency-aware </a:t>
            </a:r>
            <a:r>
              <a:rPr sz="1575" b="0" dirty="0" err="1">
                <a:solidFill>
                  <a:srgbClr val="2E7D5B"/>
                </a:solidFill>
                <a:latin typeface="Aptos"/>
                <a:ea typeface="Aptos"/>
                <a:cs typeface="Aptos"/>
              </a:rPr>
              <a:t>đáng</a:t>
            </a:r>
            <a:r>
              <a:rPr sz="1575" b="0" dirty="0">
                <a:solidFill>
                  <a:srgbClr val="2E7D5B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2E7D5B"/>
                </a:solidFill>
                <a:latin typeface="Aptos"/>
                <a:ea typeface="Aptos"/>
                <a:cs typeface="Aptos"/>
              </a:rPr>
              <a:t>cân</a:t>
            </a:r>
            <a:r>
              <a:rPr sz="1575" b="0" dirty="0">
                <a:solidFill>
                  <a:srgbClr val="2E7D5B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2E7D5B"/>
                </a:solidFill>
                <a:latin typeface="Aptos"/>
                <a:ea typeface="Aptos"/>
                <a:cs typeface="Aptos"/>
              </a:rPr>
              <a:t>nhắc</a:t>
            </a:r>
            <a:r>
              <a:rPr sz="1575" b="0" dirty="0">
                <a:solidFill>
                  <a:srgbClr val="2E7D5B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EA9F3A2-23B4-42D0-AC76-7B950B9FA9C2}"/>
              </a:ext>
            </a:extLst>
          </p:cNvPr>
          <p:cNvSpPr>
            <a:spLocks noGrp="1"/>
          </p:cNvSpPr>
          <p:nvPr/>
        </p:nvSpPr>
        <p:spPr>
          <a:xfrm>
            <a:off x="6324600" y="5524500"/>
            <a:ext cx="5257800" cy="742950"/>
          </a:xfrm>
          <a:prstGeom prst="rect">
            <a:avLst/>
          </a:prstGeom>
          <a:solidFill>
            <a:srgbClr val="FFFDFC"/>
          </a:solidFill>
          <a:ln w="9525">
            <a:solidFill>
              <a:srgbClr val="DCCFC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49C040D-E331-4F25-AB57-185B393B6608}"/>
              </a:ext>
            </a:extLst>
          </p:cNvPr>
          <p:cNvSpPr>
            <a:spLocks noGrp="1"/>
          </p:cNvSpPr>
          <p:nvPr/>
        </p:nvSpPr>
        <p:spPr>
          <a:xfrm>
            <a:off x="6534150" y="5673087"/>
            <a:ext cx="4876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171411"/>
                </a:solidFill>
                <a:latin typeface="Aptos"/>
                <a:ea typeface="Aptos"/>
                <a:cs typeface="Aptos"/>
              </a:rPr>
              <a:t>Takeaway 2: </a:t>
            </a:r>
            <a:r>
              <a:rPr sz="1575" b="0" dirty="0" err="1">
                <a:solidFill>
                  <a:srgbClr val="171411"/>
                </a:solidFill>
                <a:latin typeface="Aptos"/>
                <a:ea typeface="Aptos"/>
                <a:cs typeface="Aptos"/>
              </a:rPr>
              <a:t>điểm</a:t>
            </a:r>
            <a:r>
              <a:rPr sz="1575" b="0" dirty="0">
                <a:solidFill>
                  <a:srgbClr val="171411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171411"/>
                </a:solidFill>
                <a:latin typeface="Aptos"/>
                <a:ea typeface="Aptos"/>
                <a:cs typeface="Aptos"/>
              </a:rPr>
              <a:t>mạnh</a:t>
            </a:r>
            <a:r>
              <a:rPr sz="1575" b="0" dirty="0">
                <a:solidFill>
                  <a:srgbClr val="171411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171411"/>
                </a:solidFill>
                <a:latin typeface="Aptos"/>
                <a:ea typeface="Aptos"/>
                <a:cs typeface="Aptos"/>
              </a:rPr>
              <a:t>thật</a:t>
            </a:r>
            <a:r>
              <a:rPr sz="1575" b="0" dirty="0">
                <a:solidFill>
                  <a:srgbClr val="171411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171411"/>
                </a:solidFill>
                <a:latin typeface="Aptos"/>
                <a:ea typeface="Aptos"/>
                <a:cs typeface="Aptos"/>
              </a:rPr>
              <a:t>sự</a:t>
            </a:r>
            <a:r>
              <a:rPr sz="1575" b="0" dirty="0">
                <a:solidFill>
                  <a:srgbClr val="171411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171411"/>
                </a:solidFill>
                <a:latin typeface="Aptos"/>
                <a:ea typeface="Aptos"/>
                <a:cs typeface="Aptos"/>
              </a:rPr>
              <a:t>của</a:t>
            </a:r>
            <a:r>
              <a:rPr sz="1575" b="0" dirty="0">
                <a:solidFill>
                  <a:srgbClr val="171411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171411"/>
                </a:solidFill>
                <a:latin typeface="Aptos"/>
                <a:ea typeface="Aptos"/>
                <a:cs typeface="Aptos"/>
              </a:rPr>
              <a:t>phương</a:t>
            </a:r>
            <a:r>
              <a:rPr sz="1575" b="0" dirty="0">
                <a:solidFill>
                  <a:srgbClr val="171411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171411"/>
                </a:solidFill>
                <a:latin typeface="Aptos"/>
                <a:ea typeface="Aptos"/>
                <a:cs typeface="Aptos"/>
              </a:rPr>
              <a:t>pháp</a:t>
            </a:r>
            <a:r>
              <a:rPr sz="1575" b="0" dirty="0">
                <a:solidFill>
                  <a:srgbClr val="171411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171411"/>
                </a:solidFill>
                <a:latin typeface="Aptos"/>
                <a:ea typeface="Aptos"/>
                <a:cs typeface="Aptos"/>
              </a:rPr>
              <a:t>nằm</a:t>
            </a:r>
            <a:r>
              <a:rPr sz="1575" b="0" dirty="0">
                <a:solidFill>
                  <a:srgbClr val="171411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171411"/>
                </a:solidFill>
                <a:latin typeface="Aptos"/>
                <a:ea typeface="Aptos"/>
                <a:cs typeface="Aptos"/>
              </a:rPr>
              <a:t>ở</a:t>
            </a:r>
            <a:r>
              <a:rPr sz="1575" b="0" dirty="0">
                <a:solidFill>
                  <a:srgbClr val="171411"/>
                </a:solidFill>
                <a:latin typeface="Aptos"/>
                <a:ea typeface="Aptos"/>
                <a:cs typeface="Aptos"/>
              </a:rPr>
              <a:t> selected ratio </a:t>
            </a:r>
            <a:r>
              <a:rPr sz="1575" b="0" dirty="0" err="1">
                <a:solidFill>
                  <a:srgbClr val="171411"/>
                </a:solidFill>
                <a:latin typeface="Aptos"/>
                <a:ea typeface="Aptos"/>
                <a:cs typeface="Aptos"/>
              </a:rPr>
              <a:t>thấp</a:t>
            </a:r>
            <a:r>
              <a:rPr sz="1575" b="0" dirty="0">
                <a:solidFill>
                  <a:srgbClr val="171411"/>
                </a:solidFill>
                <a:latin typeface="Aptos"/>
                <a:ea typeface="Aptos"/>
                <a:cs typeface="Aptos"/>
              </a:rPr>
              <a:t>, </a:t>
            </a:r>
            <a:r>
              <a:rPr sz="1575" b="0" dirty="0" err="1">
                <a:solidFill>
                  <a:srgbClr val="171411"/>
                </a:solidFill>
                <a:latin typeface="Aptos"/>
                <a:ea typeface="Aptos"/>
                <a:cs typeface="Aptos"/>
              </a:rPr>
              <a:t>không</a:t>
            </a:r>
            <a:r>
              <a:rPr sz="1575" b="0" dirty="0">
                <a:solidFill>
                  <a:srgbClr val="171411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171411"/>
                </a:solidFill>
                <a:latin typeface="Aptos"/>
                <a:ea typeface="Aptos"/>
                <a:cs typeface="Aptos"/>
              </a:rPr>
              <a:t>phải</a:t>
            </a:r>
            <a:r>
              <a:rPr sz="1575" b="0" dirty="0">
                <a:solidFill>
                  <a:srgbClr val="171411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171411"/>
                </a:solidFill>
                <a:latin typeface="Aptos"/>
                <a:ea typeface="Aptos"/>
                <a:cs typeface="Aptos"/>
              </a:rPr>
              <a:t>ở</a:t>
            </a:r>
            <a:r>
              <a:rPr sz="1575" b="0" dirty="0">
                <a:solidFill>
                  <a:srgbClr val="171411"/>
                </a:solidFill>
                <a:latin typeface="Aptos"/>
                <a:ea typeface="Aptos"/>
                <a:cs typeface="Aptos"/>
              </a:rPr>
              <a:t> best score </a:t>
            </a:r>
            <a:r>
              <a:rPr sz="1575" b="0" dirty="0" err="1">
                <a:solidFill>
                  <a:srgbClr val="171411"/>
                </a:solidFill>
                <a:latin typeface="Aptos"/>
                <a:ea typeface="Aptos"/>
                <a:cs typeface="Aptos"/>
              </a:rPr>
              <a:t>tuyệt</a:t>
            </a:r>
            <a:r>
              <a:rPr sz="1575" b="0" dirty="0">
                <a:solidFill>
                  <a:srgbClr val="171411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171411"/>
                </a:solidFill>
                <a:latin typeface="Aptos"/>
                <a:ea typeface="Aptos"/>
                <a:cs typeface="Aptos"/>
              </a:rPr>
              <a:t>đối</a:t>
            </a:r>
            <a:r>
              <a:rPr sz="1575" b="0" dirty="0">
                <a:solidFill>
                  <a:srgbClr val="171411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29408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D3B10220-A7A2-4775-88EF-D4F4A24F4A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8"/>
          </a:solidFill>
          <a:ln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AC413A-E1D4-4A05-B96E-61FDACC9C71B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A61E2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61E22"/>
                </a:solidFill>
                <a:latin typeface="Aptos"/>
                <a:ea typeface="Aptos"/>
                <a:cs typeface="Aptos"/>
              </a:rPr>
              <a:t>KẾT QUẢ ĐỊNH TÍNH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610364-F9CB-4BC1-94DF-1580B5D20065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2870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71411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Về trực quan, risk-hybrid sửa được coarse behavior của DUSt3R và vẫn giữ cấu trúc scene hợp lý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4EC566-4BFA-4971-9D56-79BF824ABC56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3448050" cy="2171700"/>
          </a:xfrm>
          <a:prstGeom prst="rect">
            <a:avLst/>
          </a:prstGeom>
          <a:solidFill>
            <a:srgbClr val="FFFDFC"/>
          </a:solidFill>
          <a:ln w="9525">
            <a:solidFill>
              <a:srgbClr val="DCCFC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584E07-82B0-4EB2-8ADF-72B799E2E05E}"/>
              </a:ext>
            </a:extLst>
          </p:cNvPr>
          <p:cNvSpPr>
            <a:spLocks noGrp="1"/>
          </p:cNvSpPr>
          <p:nvPr/>
        </p:nvSpPr>
        <p:spPr>
          <a:xfrm>
            <a:off x="800100" y="1847850"/>
            <a:ext cx="1543050" cy="266700"/>
          </a:xfrm>
          <a:prstGeom prst="rect">
            <a:avLst/>
          </a:prstGeom>
          <a:solidFill>
            <a:srgbClr val="EFD9D6"/>
          </a:solidFill>
          <a:ln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EDC9DD-DC63-407C-B457-366436314263}"/>
              </a:ext>
            </a:extLst>
          </p:cNvPr>
          <p:cNvSpPr>
            <a:spLocks noGrp="1"/>
          </p:cNvSpPr>
          <p:nvPr/>
        </p:nvSpPr>
        <p:spPr>
          <a:xfrm>
            <a:off x="800100" y="1895475"/>
            <a:ext cx="1543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A61E2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1E22"/>
                </a:solidFill>
                <a:latin typeface="Aptos"/>
                <a:ea typeface="Aptos"/>
                <a:cs typeface="Aptos"/>
              </a:rPr>
              <a:t>DUSt3R depth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622715" y="2171700"/>
            <a:ext cx="1421821" cy="14859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E5E562A-DA63-473C-8C60-DB714CD9F296}"/>
              </a:ext>
            </a:extLst>
          </p:cNvPr>
          <p:cNvSpPr>
            <a:spLocks noGrp="1"/>
          </p:cNvSpPr>
          <p:nvPr/>
        </p:nvSpPr>
        <p:spPr>
          <a:xfrm>
            <a:off x="4362450" y="1676400"/>
            <a:ext cx="3448050" cy="2171700"/>
          </a:xfrm>
          <a:prstGeom prst="rect">
            <a:avLst/>
          </a:prstGeom>
          <a:solidFill>
            <a:srgbClr val="FFFDFC"/>
          </a:solidFill>
          <a:ln w="9525">
            <a:solidFill>
              <a:srgbClr val="DCCFC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4D899D-08D1-4DC6-8E71-000AACEB8F37}"/>
              </a:ext>
            </a:extLst>
          </p:cNvPr>
          <p:cNvSpPr>
            <a:spLocks noGrp="1"/>
          </p:cNvSpPr>
          <p:nvPr/>
        </p:nvSpPr>
        <p:spPr>
          <a:xfrm>
            <a:off x="4552950" y="1847850"/>
            <a:ext cx="1543050" cy="266700"/>
          </a:xfrm>
          <a:prstGeom prst="rect">
            <a:avLst/>
          </a:prstGeom>
          <a:solidFill>
            <a:srgbClr val="DCE8F2"/>
          </a:solidFill>
          <a:ln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B63D0C-1530-42B3-B9C7-2946F666F627}"/>
              </a:ext>
            </a:extLst>
          </p:cNvPr>
          <p:cNvSpPr>
            <a:spLocks noGrp="1"/>
          </p:cNvSpPr>
          <p:nvPr/>
        </p:nvSpPr>
        <p:spPr>
          <a:xfrm>
            <a:off x="4552950" y="1895475"/>
            <a:ext cx="1543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E4F7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4F73"/>
                </a:solidFill>
                <a:latin typeface="Aptos"/>
                <a:ea typeface="Aptos"/>
                <a:cs typeface="Aptos"/>
              </a:rPr>
              <a:t>MASt3R depth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871015" y="2171700"/>
            <a:ext cx="2430920" cy="14859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FF1D9C8-FBC9-4AD8-A137-B18D4DFF3348}"/>
              </a:ext>
            </a:extLst>
          </p:cNvPr>
          <p:cNvSpPr>
            <a:spLocks noGrp="1"/>
          </p:cNvSpPr>
          <p:nvPr/>
        </p:nvSpPr>
        <p:spPr>
          <a:xfrm>
            <a:off x="8115300" y="1676400"/>
            <a:ext cx="3467100" cy="2171700"/>
          </a:xfrm>
          <a:prstGeom prst="rect">
            <a:avLst/>
          </a:prstGeom>
          <a:solidFill>
            <a:srgbClr val="FFFDFC"/>
          </a:solidFill>
          <a:ln w="9525">
            <a:solidFill>
              <a:srgbClr val="DCCFC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C857D0-01E1-4182-9611-BF22960F9283}"/>
              </a:ext>
            </a:extLst>
          </p:cNvPr>
          <p:cNvSpPr>
            <a:spLocks noGrp="1"/>
          </p:cNvSpPr>
          <p:nvPr/>
        </p:nvSpPr>
        <p:spPr>
          <a:xfrm>
            <a:off x="8305800" y="1847850"/>
            <a:ext cx="1657350" cy="266700"/>
          </a:xfrm>
          <a:prstGeom prst="rect">
            <a:avLst/>
          </a:prstGeom>
          <a:solidFill>
            <a:srgbClr val="DAEFE3"/>
          </a:solidFill>
          <a:ln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49D0C78-4C20-4CEB-801A-AC70F6103E49}"/>
              </a:ext>
            </a:extLst>
          </p:cNvPr>
          <p:cNvSpPr>
            <a:spLocks noGrp="1"/>
          </p:cNvSpPr>
          <p:nvPr/>
        </p:nvSpPr>
        <p:spPr>
          <a:xfrm>
            <a:off x="8305800" y="1895475"/>
            <a:ext cx="1657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Risk-hybrid depth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137940" y="2171700"/>
            <a:ext cx="1421821" cy="14859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4D417AA-C89A-4DE4-9CCB-C39E15C57586}"/>
              </a:ext>
            </a:extLst>
          </p:cNvPr>
          <p:cNvSpPr>
            <a:spLocks noGrp="1"/>
          </p:cNvSpPr>
          <p:nvPr/>
        </p:nvSpPr>
        <p:spPr>
          <a:xfrm>
            <a:off x="609600" y="4171950"/>
            <a:ext cx="4095750" cy="1885950"/>
          </a:xfrm>
          <a:prstGeom prst="rect">
            <a:avLst/>
          </a:prstGeom>
          <a:solidFill>
            <a:srgbClr val="FFFDFC"/>
          </a:solidFill>
          <a:ln w="9525">
            <a:solidFill>
              <a:srgbClr val="DCCFC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E635C0-509C-4ED4-8511-C01B1BDF838F}"/>
              </a:ext>
            </a:extLst>
          </p:cNvPr>
          <p:cNvSpPr>
            <a:spLocks noGrp="1"/>
          </p:cNvSpPr>
          <p:nvPr/>
        </p:nvSpPr>
        <p:spPr>
          <a:xfrm>
            <a:off x="800100" y="4343400"/>
            <a:ext cx="1562100" cy="266700"/>
          </a:xfrm>
          <a:prstGeom prst="rect">
            <a:avLst/>
          </a:prstGeom>
          <a:solidFill>
            <a:srgbClr val="EFD9D6"/>
          </a:solidFill>
          <a:ln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A21863F-1EAB-4511-AC8A-BA1191C23BC1}"/>
              </a:ext>
            </a:extLst>
          </p:cNvPr>
          <p:cNvSpPr>
            <a:spLocks noGrp="1"/>
          </p:cNvSpPr>
          <p:nvPr/>
        </p:nvSpPr>
        <p:spPr>
          <a:xfrm>
            <a:off x="800100" y="4391025"/>
            <a:ext cx="1562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A61E2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1E22"/>
                </a:solidFill>
                <a:latin typeface="Aptos"/>
                <a:ea typeface="Aptos"/>
                <a:cs typeface="Aptos"/>
              </a:rPr>
              <a:t>Risk selection map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094399" y="4686300"/>
            <a:ext cx="1049703" cy="11811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980CB5C2-802D-49A6-BB74-C6FEF1B4D41A}"/>
              </a:ext>
            </a:extLst>
          </p:cNvPr>
          <p:cNvSpPr>
            <a:spLocks noGrp="1"/>
          </p:cNvSpPr>
          <p:nvPr/>
        </p:nvSpPr>
        <p:spPr>
          <a:xfrm>
            <a:off x="2628900" y="4705350"/>
            <a:ext cx="188595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B625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625B"/>
                </a:solidFill>
                <a:latin typeface="Aptos"/>
                <a:ea typeface="Aptos"/>
                <a:cs typeface="Aptos"/>
              </a:rPr>
              <a:t>Selection map cho thấy pipeline không refine ngẫu nhiên, mà dồn budget vào các frame có tín hiệu rủi ro cao hơn.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CC81A88-5983-4282-A66F-B78EB1B079B6}"/>
              </a:ext>
            </a:extLst>
          </p:cNvPr>
          <p:cNvSpPr>
            <a:spLocks noGrp="1"/>
          </p:cNvSpPr>
          <p:nvPr/>
        </p:nvSpPr>
        <p:spPr>
          <a:xfrm>
            <a:off x="5010150" y="4171950"/>
            <a:ext cx="6572250" cy="1885950"/>
          </a:xfrm>
          <a:prstGeom prst="rect">
            <a:avLst/>
          </a:prstGeom>
          <a:solidFill>
            <a:srgbClr val="FFFDFC"/>
          </a:solidFill>
          <a:ln w="9525">
            <a:solidFill>
              <a:srgbClr val="DCCFC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8983900-B3CA-46EE-B6B4-B24F1EC533F0}"/>
              </a:ext>
            </a:extLst>
          </p:cNvPr>
          <p:cNvSpPr>
            <a:spLocks noGrp="1"/>
          </p:cNvSpPr>
          <p:nvPr/>
        </p:nvSpPr>
        <p:spPr>
          <a:xfrm>
            <a:off x="5200650" y="4343400"/>
            <a:ext cx="1619250" cy="266700"/>
          </a:xfrm>
          <a:prstGeom prst="rect">
            <a:avLst/>
          </a:prstGeom>
          <a:solidFill>
            <a:srgbClr val="DCE8F2"/>
          </a:solidFill>
          <a:ln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B0B0EC6-E507-4CA5-91BE-7C0A57EE2344}"/>
              </a:ext>
            </a:extLst>
          </p:cNvPr>
          <p:cNvSpPr>
            <a:spLocks noGrp="1"/>
          </p:cNvSpPr>
          <p:nvPr/>
        </p:nvSpPr>
        <p:spPr>
          <a:xfrm>
            <a:off x="5200650" y="4391025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E4F7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4F73"/>
                </a:solidFill>
                <a:latin typeface="Aptos"/>
                <a:ea typeface="Aptos"/>
                <a:cs typeface="Aptos"/>
              </a:rPr>
              <a:t>OpenMVS point cloud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5492741" y="4686300"/>
            <a:ext cx="2578117" cy="11811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026E00E1-61B8-4136-9C4E-64C7ED35589C}"/>
              </a:ext>
            </a:extLst>
          </p:cNvPr>
          <p:cNvSpPr>
            <a:spLocks noGrp="1"/>
          </p:cNvSpPr>
          <p:nvPr/>
        </p:nvSpPr>
        <p:spPr>
          <a:xfrm>
            <a:off x="8591550" y="4705350"/>
            <a:ext cx="272415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B625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625B"/>
                </a:solidFill>
                <a:latin typeface="Aptos"/>
                <a:ea typeface="Aptos"/>
                <a:cs typeface="Aptos"/>
              </a:rPr>
              <a:t>Point cloud trên ODMData đóng vai trò hình dung mục tiêu geometry cuối cùng của pipeline. Ở mức trình bày, nó giúp giải thích vì sao benchmark cần cả số liệu lẫn trực quan.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71ACCE5-D97C-4FE6-9122-B80A8EF9CA41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10972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625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625B"/>
                </a:solidFill>
                <a:latin typeface="Aptos"/>
                <a:ea typeface="Aptos"/>
                <a:cs typeface="Aptos"/>
              </a:rPr>
              <a:t>Các panel qualitative được lấy trực tiếp từ artifact benchmark đã sinh ra trong repo GEO.</a:t>
            </a:r>
          </a:p>
        </p:txBody>
      </p:sp>
    </p:spTree>
    <p:extLst>
      <p:ext uri="{BB962C8B-B14F-4D97-AF65-F5344CB8AC3E}">
        <p14:creationId xmlns:p14="http://schemas.microsoft.com/office/powerpoint/2010/main" val="917782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0AADCC58-EB33-4FD7-BCB8-7D9D0B6D978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DFC"/>
              </a:gs>
              <a:gs pos="100000">
                <a:srgbClr val="F7F1E8"/>
              </a:gs>
            </a:gsLst>
            <a:lin ang="10800000"/>
          </a:gradFill>
          <a:ln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7F6487-FAE2-4F38-82D7-CA5022179128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A61E2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61E22"/>
                </a:solidFill>
                <a:latin typeface="Aptos"/>
                <a:ea typeface="Aptos"/>
                <a:cs typeface="Aptos"/>
              </a:rPr>
              <a:t>KẾT LUẬN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79A90D-ACE2-4BBB-AD53-BB6AF1AA7B93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71411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Selective refinement là một hướng đủ mạnh để POC ý tưởng và đáng mở rộng thành nghiên cứu sâu hơn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B14D9D-DEDB-4817-96A7-5A276B5255DF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3333750" cy="3543300"/>
          </a:xfrm>
          <a:prstGeom prst="rect">
            <a:avLst/>
          </a:prstGeom>
          <a:solidFill>
            <a:srgbClr val="FFFDFC"/>
          </a:solidFill>
          <a:ln w="9525">
            <a:solidFill>
              <a:srgbClr val="DCCFC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A52F06-D40C-4F4E-B8D5-57771E80B39B}"/>
              </a:ext>
            </a:extLst>
          </p:cNvPr>
          <p:cNvSpPr>
            <a:spLocks noGrp="1"/>
          </p:cNvSpPr>
          <p:nvPr/>
        </p:nvSpPr>
        <p:spPr>
          <a:xfrm>
            <a:off x="819150" y="1866900"/>
            <a:ext cx="1219200" cy="266700"/>
          </a:xfrm>
          <a:prstGeom prst="rect">
            <a:avLst/>
          </a:prstGeom>
          <a:solidFill>
            <a:srgbClr val="EFD9D6"/>
          </a:solidFill>
          <a:ln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87EBB9-41A1-40C9-B6C5-374DE43A0C2D}"/>
              </a:ext>
            </a:extLst>
          </p:cNvPr>
          <p:cNvSpPr>
            <a:spLocks noGrp="1"/>
          </p:cNvSpPr>
          <p:nvPr/>
        </p:nvSpPr>
        <p:spPr>
          <a:xfrm>
            <a:off x="819150" y="1914525"/>
            <a:ext cx="1219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A61E2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1E22"/>
                </a:solidFill>
                <a:latin typeface="Aptos"/>
                <a:ea typeface="Aptos"/>
                <a:cs typeface="Aptos"/>
              </a:rPr>
              <a:t>Đã làm được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20019A-EA1D-415D-AC8B-DB77251F7610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76200" cy="76200"/>
          </a:xfrm>
          <a:prstGeom prst="rect">
            <a:avLst/>
          </a:prstGeom>
          <a:solidFill>
            <a:srgbClr val="A61E22"/>
          </a:solidFill>
          <a:ln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55C2AB-397A-4F34-85D1-E1B601D53B80}"/>
              </a:ext>
            </a:extLst>
          </p:cNvPr>
          <p:cNvSpPr>
            <a:spLocks noGrp="1"/>
          </p:cNvSpPr>
          <p:nvPr/>
        </p:nvSpPr>
        <p:spPr>
          <a:xfrm>
            <a:off x="1009650" y="2324100"/>
            <a:ext cx="26289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1411"/>
                </a:solidFill>
                <a:latin typeface="Aptos"/>
                <a:ea typeface="Aptos"/>
                <a:cs typeface="Aptos"/>
              </a:rPr>
              <a:t>Xây dựng framework GEO chạy benchmark end-to-end.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C647BE-2AD6-450A-8887-6C18901C4684}"/>
              </a:ext>
            </a:extLst>
          </p:cNvPr>
          <p:cNvSpPr>
            <a:spLocks noGrp="1"/>
          </p:cNvSpPr>
          <p:nvPr/>
        </p:nvSpPr>
        <p:spPr>
          <a:xfrm>
            <a:off x="838200" y="3200400"/>
            <a:ext cx="76200" cy="76200"/>
          </a:xfrm>
          <a:prstGeom prst="rect">
            <a:avLst/>
          </a:prstGeom>
          <a:solidFill>
            <a:srgbClr val="A61E22"/>
          </a:solidFill>
          <a:ln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3AEDF7-B164-44F7-8D60-45DC8D161669}"/>
              </a:ext>
            </a:extLst>
          </p:cNvPr>
          <p:cNvSpPr>
            <a:spLocks noGrp="1"/>
          </p:cNvSpPr>
          <p:nvPr/>
        </p:nvSpPr>
        <p:spPr>
          <a:xfrm>
            <a:off x="1009650" y="3105150"/>
            <a:ext cx="26289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1411"/>
                </a:solidFill>
                <a:latin typeface="Aptos"/>
                <a:ea typeface="Aptos"/>
                <a:cs typeface="Aptos"/>
              </a:rPr>
              <a:t>Hiện thực hóa risk-guided hybrid refinement với DUSt3R và MASt3R.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B9483A-68AE-4242-B4B9-E20C2823AB86}"/>
              </a:ext>
            </a:extLst>
          </p:cNvPr>
          <p:cNvSpPr>
            <a:spLocks noGrp="1"/>
          </p:cNvSpPr>
          <p:nvPr/>
        </p:nvSpPr>
        <p:spPr>
          <a:xfrm>
            <a:off x="838200" y="3981450"/>
            <a:ext cx="76200" cy="76200"/>
          </a:xfrm>
          <a:prstGeom prst="rect">
            <a:avLst/>
          </a:prstGeom>
          <a:solidFill>
            <a:srgbClr val="A61E22"/>
          </a:solidFill>
          <a:ln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596478-1D48-45A4-A980-D09B8A6C4458}"/>
              </a:ext>
            </a:extLst>
          </p:cNvPr>
          <p:cNvSpPr>
            <a:spLocks noGrp="1"/>
          </p:cNvSpPr>
          <p:nvPr/>
        </p:nvSpPr>
        <p:spPr>
          <a:xfrm>
            <a:off x="1009650" y="3886200"/>
            <a:ext cx="26289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1411"/>
                </a:solidFill>
                <a:latin typeface="Aptos"/>
                <a:ea typeface="Aptos"/>
                <a:cs typeface="Aptos"/>
              </a:rPr>
              <a:t>Đánh giá được trên hai dataset UAV thật.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4787B8-17AD-412B-BC25-6E64B83E254D}"/>
              </a:ext>
            </a:extLst>
          </p:cNvPr>
          <p:cNvSpPr>
            <a:spLocks noGrp="1"/>
          </p:cNvSpPr>
          <p:nvPr/>
        </p:nvSpPr>
        <p:spPr>
          <a:xfrm>
            <a:off x="4438650" y="1676400"/>
            <a:ext cx="3333750" cy="3543300"/>
          </a:xfrm>
          <a:prstGeom prst="rect">
            <a:avLst/>
          </a:prstGeom>
          <a:solidFill>
            <a:srgbClr val="FFFDFC"/>
          </a:solidFill>
          <a:ln w="9525">
            <a:solidFill>
              <a:srgbClr val="DCCFC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F6B937-A5F9-4939-9498-85F2565F81BA}"/>
              </a:ext>
            </a:extLst>
          </p:cNvPr>
          <p:cNvSpPr>
            <a:spLocks noGrp="1"/>
          </p:cNvSpPr>
          <p:nvPr/>
        </p:nvSpPr>
        <p:spPr>
          <a:xfrm>
            <a:off x="4648200" y="1866900"/>
            <a:ext cx="1257300" cy="266700"/>
          </a:xfrm>
          <a:prstGeom prst="rect">
            <a:avLst/>
          </a:prstGeom>
          <a:solidFill>
            <a:srgbClr val="EFD9D6"/>
          </a:solidFill>
          <a:ln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E1E9C45-D3A1-44E4-ACC8-1F5040B009BA}"/>
              </a:ext>
            </a:extLst>
          </p:cNvPr>
          <p:cNvSpPr>
            <a:spLocks noGrp="1"/>
          </p:cNvSpPr>
          <p:nvPr/>
        </p:nvSpPr>
        <p:spPr>
          <a:xfrm>
            <a:off x="4648200" y="1914525"/>
            <a:ext cx="1257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A61E2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1E22"/>
                </a:solidFill>
                <a:latin typeface="Aptos"/>
                <a:ea typeface="Aptos"/>
                <a:cs typeface="Aptos"/>
              </a:rPr>
              <a:t>Giới hạn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30D1E4-8AE0-46CF-A434-0392AE79F495}"/>
              </a:ext>
            </a:extLst>
          </p:cNvPr>
          <p:cNvSpPr>
            <a:spLocks noGrp="1"/>
          </p:cNvSpPr>
          <p:nvPr/>
        </p:nvSpPr>
        <p:spPr>
          <a:xfrm>
            <a:off x="4667250" y="2419350"/>
            <a:ext cx="76200" cy="76200"/>
          </a:xfrm>
          <a:prstGeom prst="rect">
            <a:avLst/>
          </a:prstGeom>
          <a:solidFill>
            <a:srgbClr val="A61E22"/>
          </a:solidFill>
          <a:ln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FECC1A-4A8C-4721-A5DD-24D033882B84}"/>
              </a:ext>
            </a:extLst>
          </p:cNvPr>
          <p:cNvSpPr>
            <a:spLocks noGrp="1"/>
          </p:cNvSpPr>
          <p:nvPr/>
        </p:nvSpPr>
        <p:spPr>
          <a:xfrm>
            <a:off x="4838700" y="2324100"/>
            <a:ext cx="26289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1411"/>
                </a:solidFill>
                <a:latin typeface="Aptos"/>
                <a:ea typeface="Aptos"/>
                <a:cs typeface="Aptos"/>
              </a:rPr>
              <a:t>Risk score hiện vẫn là heuristic, chưa học trực tiếp từ dữ liệu.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80E1A3E-9E0C-4615-AB7A-511B0621A0BB}"/>
              </a:ext>
            </a:extLst>
          </p:cNvPr>
          <p:cNvSpPr>
            <a:spLocks noGrp="1"/>
          </p:cNvSpPr>
          <p:nvPr/>
        </p:nvSpPr>
        <p:spPr>
          <a:xfrm>
            <a:off x="4667250" y="3200400"/>
            <a:ext cx="76200" cy="76200"/>
          </a:xfrm>
          <a:prstGeom prst="rect">
            <a:avLst/>
          </a:prstGeom>
          <a:solidFill>
            <a:srgbClr val="A61E22"/>
          </a:solidFill>
          <a:ln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BC58360-B522-486F-8B10-8C0048E6AE5E}"/>
              </a:ext>
            </a:extLst>
          </p:cNvPr>
          <p:cNvSpPr>
            <a:spLocks noGrp="1"/>
          </p:cNvSpPr>
          <p:nvPr/>
        </p:nvSpPr>
        <p:spPr>
          <a:xfrm>
            <a:off x="4838700" y="3105150"/>
            <a:ext cx="26289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1411"/>
                </a:solidFill>
                <a:latin typeface="Aptos"/>
                <a:ea typeface="Aptos"/>
                <a:cs typeface="Aptos"/>
              </a:rPr>
              <a:t>MASt3R full-pass vẫn mạnh hơn về best accuracy tuyệt đối.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8ECC846-D26B-4240-876E-3064D4A6F2D9}"/>
              </a:ext>
            </a:extLst>
          </p:cNvPr>
          <p:cNvSpPr>
            <a:spLocks noGrp="1"/>
          </p:cNvSpPr>
          <p:nvPr/>
        </p:nvSpPr>
        <p:spPr>
          <a:xfrm>
            <a:off x="4667250" y="3981450"/>
            <a:ext cx="76200" cy="76200"/>
          </a:xfrm>
          <a:prstGeom prst="rect">
            <a:avLst/>
          </a:prstGeom>
          <a:solidFill>
            <a:srgbClr val="A61E22"/>
          </a:solidFill>
          <a:ln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8D74499-2262-44CF-A4E0-31DE5ABB3334}"/>
              </a:ext>
            </a:extLst>
          </p:cNvPr>
          <p:cNvSpPr>
            <a:spLocks noGrp="1"/>
          </p:cNvSpPr>
          <p:nvPr/>
        </p:nvSpPr>
        <p:spPr>
          <a:xfrm>
            <a:off x="4838700" y="3886200"/>
            <a:ext cx="26289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1411"/>
                </a:solidFill>
                <a:latin typeface="Aptos"/>
                <a:ea typeface="Aptos"/>
                <a:cs typeface="Aptos"/>
              </a:rPr>
              <a:t>Benchmark full phụ thuộc khá mạnh vào điều kiện phần cứng.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969E008-9503-4CD7-9494-E00600F37B73}"/>
              </a:ext>
            </a:extLst>
          </p:cNvPr>
          <p:cNvSpPr>
            <a:spLocks noGrp="1"/>
          </p:cNvSpPr>
          <p:nvPr/>
        </p:nvSpPr>
        <p:spPr>
          <a:xfrm>
            <a:off x="8267700" y="1676400"/>
            <a:ext cx="3314700" cy="3543300"/>
          </a:xfrm>
          <a:prstGeom prst="rect">
            <a:avLst/>
          </a:prstGeom>
          <a:solidFill>
            <a:srgbClr val="FFFDFC"/>
          </a:solidFill>
          <a:ln w="9525">
            <a:solidFill>
              <a:srgbClr val="DCCFC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B0CE588-0AC3-4D4A-9734-D6A00312302F}"/>
              </a:ext>
            </a:extLst>
          </p:cNvPr>
          <p:cNvSpPr>
            <a:spLocks noGrp="1"/>
          </p:cNvSpPr>
          <p:nvPr/>
        </p:nvSpPr>
        <p:spPr>
          <a:xfrm>
            <a:off x="8477250" y="1866900"/>
            <a:ext cx="1524000" cy="266700"/>
          </a:xfrm>
          <a:prstGeom prst="rect">
            <a:avLst/>
          </a:prstGeom>
          <a:solidFill>
            <a:srgbClr val="DCE8F2"/>
          </a:solidFill>
          <a:ln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7D254C9-10A0-4DBB-9AC0-0FCF1778E8AA}"/>
              </a:ext>
            </a:extLst>
          </p:cNvPr>
          <p:cNvSpPr>
            <a:spLocks noGrp="1"/>
          </p:cNvSpPr>
          <p:nvPr/>
        </p:nvSpPr>
        <p:spPr>
          <a:xfrm>
            <a:off x="8477250" y="1914525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E4F7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4F73"/>
                </a:solidFill>
                <a:latin typeface="Aptos"/>
                <a:ea typeface="Aptos"/>
                <a:cs typeface="Aptos"/>
              </a:rPr>
              <a:t>Hướng phát triển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594AAE3-E92E-4931-BA3B-F8E380C01D0A}"/>
              </a:ext>
            </a:extLst>
          </p:cNvPr>
          <p:cNvSpPr>
            <a:spLocks noGrp="1"/>
          </p:cNvSpPr>
          <p:nvPr/>
        </p:nvSpPr>
        <p:spPr>
          <a:xfrm>
            <a:off x="8496300" y="2419350"/>
            <a:ext cx="76200" cy="76200"/>
          </a:xfrm>
          <a:prstGeom prst="rect">
            <a:avLst/>
          </a:prstGeom>
          <a:solidFill>
            <a:srgbClr val="1E4F73"/>
          </a:solidFill>
          <a:ln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3BA0A3C-D3BA-40A3-958A-B540F5A01715}"/>
              </a:ext>
            </a:extLst>
          </p:cNvPr>
          <p:cNvSpPr>
            <a:spLocks noGrp="1"/>
          </p:cNvSpPr>
          <p:nvPr/>
        </p:nvSpPr>
        <p:spPr>
          <a:xfrm>
            <a:off x="8667750" y="2324100"/>
            <a:ext cx="26098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1411"/>
                </a:solidFill>
                <a:latin typeface="Aptos"/>
                <a:ea typeface="Aptos"/>
                <a:cs typeface="Aptos"/>
              </a:rPr>
              <a:t>Học risk score từ uncertainty hoặc meta-policy thay vì heuristic.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E51040E-FE90-4700-9AD2-EC62A00A12BB}"/>
              </a:ext>
            </a:extLst>
          </p:cNvPr>
          <p:cNvSpPr>
            <a:spLocks noGrp="1"/>
          </p:cNvSpPr>
          <p:nvPr/>
        </p:nvSpPr>
        <p:spPr>
          <a:xfrm>
            <a:off x="8496300" y="3200400"/>
            <a:ext cx="76200" cy="76200"/>
          </a:xfrm>
          <a:prstGeom prst="rect">
            <a:avLst/>
          </a:prstGeom>
          <a:solidFill>
            <a:srgbClr val="1E4F73"/>
          </a:solidFill>
          <a:ln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3D8F2D6-F181-4F6B-9304-C6B981C242D4}"/>
              </a:ext>
            </a:extLst>
          </p:cNvPr>
          <p:cNvSpPr>
            <a:spLocks noGrp="1"/>
          </p:cNvSpPr>
          <p:nvPr/>
        </p:nvSpPr>
        <p:spPr>
          <a:xfrm>
            <a:off x="8667750" y="3105150"/>
            <a:ext cx="26098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1411"/>
                </a:solidFill>
                <a:latin typeface="Aptos"/>
                <a:ea typeface="Aptos"/>
                <a:cs typeface="Aptos"/>
              </a:rPr>
              <a:t>Mở rộng benchmark theo suite lớn hơn và thêm ablation có hệ thống.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D8D5843-D593-43AB-8532-19644E036893}"/>
              </a:ext>
            </a:extLst>
          </p:cNvPr>
          <p:cNvSpPr>
            <a:spLocks noGrp="1"/>
          </p:cNvSpPr>
          <p:nvPr/>
        </p:nvSpPr>
        <p:spPr>
          <a:xfrm>
            <a:off x="8496300" y="3981450"/>
            <a:ext cx="76200" cy="76200"/>
          </a:xfrm>
          <a:prstGeom prst="rect">
            <a:avLst/>
          </a:prstGeom>
          <a:solidFill>
            <a:srgbClr val="1E4F73"/>
          </a:solidFill>
          <a:ln>
            <a:noFill/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6FF55CD-F100-498F-BF2E-C02F6F24FC53}"/>
              </a:ext>
            </a:extLst>
          </p:cNvPr>
          <p:cNvSpPr>
            <a:spLocks noGrp="1"/>
          </p:cNvSpPr>
          <p:nvPr/>
        </p:nvSpPr>
        <p:spPr>
          <a:xfrm>
            <a:off x="8667750" y="3886200"/>
            <a:ext cx="26098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1411"/>
                </a:solidFill>
                <a:latin typeface="Aptos"/>
                <a:ea typeface="Aptos"/>
                <a:cs typeface="Aptos"/>
              </a:rPr>
              <a:t>Đưa pipeline sang bài toán real-time hoặc UAV SLAM.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3118581-CE24-402C-AC92-5603EEA41DF0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10972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625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625B"/>
                </a:solidFill>
                <a:latin typeface="Aptos"/>
                <a:ea typeface="Aptos"/>
                <a:cs typeface="Aptos"/>
              </a:rPr>
              <a:t>Cảm ơn thầy cô và các bạn đã lắng nghe.</a:t>
            </a:r>
          </a:p>
        </p:txBody>
      </p:sp>
    </p:spTree>
    <p:extLst>
      <p:ext uri="{BB962C8B-B14F-4D97-AF65-F5344CB8AC3E}">
        <p14:creationId xmlns:p14="http://schemas.microsoft.com/office/powerpoint/2010/main" val="96831203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1418</Words>
  <Application>Microsoft Macintosh PowerPoint</Application>
  <DocSecurity>0</DocSecurity>
  <PresentationFormat>Widescreen</PresentationFormat>
  <Paragraphs>168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Calibri</vt:lpstr>
      <vt:lpstr>Georgia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Nguyen Dinh Duy</cp:lastModifiedBy>
  <cp:revision>2</cp:revision>
  <dcterms:created xsi:type="dcterms:W3CDTF">2026-05-16T19:04:26Z</dcterms:created>
  <dcterms:modified xsi:type="dcterms:W3CDTF">2026-05-16T20:03:57Z</dcterms:modified>
</cp:coreProperties>
</file>